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15"/>
  </p:notesMasterIdLst>
  <p:handoutMasterIdLst>
    <p:handoutMasterId r:id="rId16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7"/>
    <p:sldId id="264" r:id="rId6"/>
    <p:sldId id="265" r:id="rId5"/>
    <p:sldId id="266" r:id="rId4"/>
    <p:sldId id="267" r:id="rId3"/>
    <p:sldId id="268" r:id="rId2"/>
    <p:sldId id="269" r:id="rId21"/>
    <p:sldId id="270" r:id="rId22"/>
    <p:sldId id="271" r:id="rId23"/>
    <p:sldId id="273" r:id="rId25"/>
    <p:sldId id="272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54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3.xml"/><Relationship Id="rId3" Type="http://schemas.openxmlformats.org/officeDocument/2006/relationships/slide" Target="slides/slide12.xml"/><Relationship Id="rId4" Type="http://schemas.openxmlformats.org/officeDocument/2006/relationships/slide" Target="slides/slide1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8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notesMaster" Target="notesMasters/notesMaster1.xml"/><Relationship Id="rId16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C5DD3B49-F775-49FC-ACAD-45B074D1C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80488" y="2365248"/>
            <a:ext cx="4383024" cy="2127504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880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14880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985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388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15024"/>
            <a:ext cx="8674100" cy="488097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83" r:id="rId7"/>
    <p:sldLayoutId id="2147483676" r:id="rId8"/>
    <p:sldLayoutId id="2147483679" r:id="rId9"/>
    <p:sldLayoutId id="2147483680" r:id="rId10"/>
    <p:sldLayoutId id="2147483681" r:id="rId11"/>
    <p:sldLayoutId id="2147483682" r:id="rId12"/>
    <p:sldLayoutId id="2147483678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Xây dựng website nhận diện ảnh món ăn</a:t>
            </a:r>
          </a:p>
          <a:p>
            <a:r>
              <a:rPr sz="2800"/>
              <a:t>và tư vấn nấu món ăn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93192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/>
              <a:t>Sinh viên: Vũ Hữu Tiến  —  Chương trình: Kỹ thuật Máy tính</a:t>
            </a:r>
          </a:p>
          <a:p>
            <a:pPr algn="ctr"/>
            <a:r>
              <a:rPr sz="1600"/>
              <a:t>Giảng viên hướng dẫn: PGS. TS. Nguyễn Thị Hoàng Lan</a:t>
            </a:r>
          </a:p>
          <a:p>
            <a:pPr algn="ctr"/>
            <a:r>
              <a:rPr sz="1600"/>
              <a:t>Trường Công nghệ Thông tin và Truyền thông — ĐHBK Hà Nội</a:t>
            </a:r>
          </a:p>
          <a:p>
            <a:pPr algn="ctr"/>
            <a:r>
              <a:rPr sz="1600"/>
              <a:t>Hà Nội, 07/2026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Nội dung trình bày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/>
            <a:r>
              <a:rPr sz="2200"/>
              <a:t>Mục tiêu đồ án</a:t>
            </a:r>
          </a:p>
          <a:p>
            <a:pPr/>
            <a:r>
              <a:rPr sz="2200"/>
              <a:t>Phân tích bài toán và giải pháp</a:t>
            </a:r>
          </a:p>
          <a:p>
            <a:pPr/>
            <a:r>
              <a:rPr sz="2200"/>
              <a:t>Thiết kế hệ thống (kiến trúc, use case, CSDL, hoạt động, lớp)</a:t>
            </a:r>
          </a:p>
          <a:p>
            <a:pPr/>
            <a:r>
              <a:rPr sz="2200"/>
              <a:t>Kết quả thử nghiệm</a:t>
            </a:r>
          </a:p>
          <a:p>
            <a:pPr/>
            <a:r>
              <a:rPr sz="2200"/>
              <a:t>Kết luận và hướng phát triển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Mục tiêu đồ án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/>
            <a:r>
              <a:rPr sz="2000"/>
              <a:t>Đặt vấn đề:</a:t>
            </a:r>
          </a:p>
          <a:p>
            <a:pPr lvl="1"/>
            <a:r>
              <a:rPr sz="1800"/>
              <a:t>Công thức món Việt phân mảnh, thiếu chuẩn hóa; tìm theo từ khóa</a:t>
            </a:r>
          </a:p>
          <a:p>
            <a:pPr lvl="1"/>
            <a:r>
              <a:rPr sz="1800"/>
              <a:t>Gặp món ngoài đời không biết tên để tra công thức</a:t>
            </a:r>
          </a:p>
          <a:p>
            <a:pPr/>
            <a:r>
              <a:rPr sz="2000"/>
              <a:t>Mục tiêu:</a:t>
            </a:r>
          </a:p>
          <a:p>
            <a:pPr lvl="1"/>
            <a:r>
              <a:rPr sz="1800"/>
              <a:t>Ứng dụng web quản lý – chia sẻ công thức món Việt</a:t>
            </a:r>
          </a:p>
          <a:p>
            <a:pPr lvl="1"/>
            <a:r>
              <a:rPr sz="1800"/>
              <a:t>Nhận diện món ăn từ ảnh và gắn kết quả với kho công thức để tư vấn nấu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Phân tích bài toán và giải pháp (1/2)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/>
            <a:r>
              <a:rPr sz="1800"/>
              <a:t>Bài toán 1 — Chuẩn hóa &amp; tổ chức kho công thức</a:t>
            </a:r>
          </a:p>
          <a:p>
            <a:pPr lvl="1"/>
            <a:r>
              <a:rPr sz="1600"/>
              <a:t>Cào từ monngonmoingay.com, chuẩn hóa nguyên liệu/bước/thời gian/độ khó</a:t>
            </a:r>
          </a:p>
          <a:p>
            <a:pPr lvl="1"/>
            <a:r>
              <a:rPr sz="1600"/>
              <a:t>Gom theo định danh món, chọn công thức đại diện cho mỗi lớp</a:t>
            </a:r>
          </a:p>
          <a:p>
            <a:pPr/>
            <a:r>
              <a:rPr sz="1800"/>
              <a:t>Bài toán 2 — Nhận diện món ăn từ ảnh, nhiều lớp tương đồng</a:t>
            </a:r>
          </a:p>
          <a:p>
            <a:pPr lvl="1"/>
            <a:r>
              <a:rPr sz="1600"/>
              <a:t>Hơn 100 món Việt, nhiều món giống nhau về hình thức</a:t>
            </a:r>
          </a:p>
          <a:p>
            <a:pPr lvl="1"/>
            <a:r>
              <a:rPr sz="1600"/>
              <a:t>Giải pháp: kiến trúc nhận diện hai tầng (coarse-to-fine)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Phân tích bài toán và giải pháp (2/2)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/>
            <a:r>
              <a:rPr sz="1800"/>
              <a:t>Bài toán 3 — Gắn nhận diện với dữ liệu công thức</a:t>
            </a:r>
          </a:p>
          <a:p>
            <a:pPr lvl="1"/>
            <a:r>
              <a:rPr sz="1600"/>
              <a:t>Ràng buộc: kết quả nhận diện luôn ánh xạ về công thức có thật</a:t>
            </a:r>
          </a:p>
          <a:p>
            <a:pPr lvl="1"/>
            <a:r>
              <a:rPr sz="1600"/>
              <a:t>Nếu không khớp: báo “không nhận diện được” thay vì đoán bừa</a:t>
            </a:r>
          </a:p>
          <a:p>
            <a:pPr/>
            <a:r>
              <a:rPr sz="1800"/>
              <a:t>Bài toán 4 — Đóng góp nội dung có kiểm soát</a:t>
            </a:r>
          </a:p>
          <a:p>
            <a:pPr lvl="1"/>
            <a:r>
              <a:rPr sz="1600"/>
              <a:t>Quy trình đề xuất – duyệt thống nhất (tạo/sửa/xóa) qua quản trị viên</a:t>
            </a:r>
          </a:p>
          <a:p>
            <a:pPr/>
            <a:r>
              <a:rPr sz="1800"/>
              <a:t>Công nghệ: Next.js + FastAPI + PostgreSQL + PyTorch (EfficientNet)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Kiến trúc tổng quan hệ thống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457200" y="1463040"/>
            <a:ext cx="4023360" cy="4754880"/>
          </a:xfrm>
        </p:spPr>
        <p:txBody>
          <a:bodyPr wrap="square"/>
          <a:lstStyle/>
          <a:p>
            <a:pPr/>
            <a:r>
              <a:rPr sz="1600"/>
              <a:t>Ba lớp tách biệt:</a:t>
            </a:r>
          </a:p>
          <a:p>
            <a:pPr lvl="1"/>
            <a:r>
              <a:rPr sz="1400"/>
              <a:t>Giao diện Next.js (trình duyệt)</a:t>
            </a:r>
          </a:p>
          <a:p>
            <a:pPr lvl="1"/>
            <a:r>
              <a:rPr sz="1400"/>
              <a:t>Dịch vụ FastAPI, khối AI nhúng trực tiếp</a:t>
            </a:r>
          </a:p>
          <a:p>
            <a:pPr lvl="1"/>
            <a:r>
              <a:rPr sz="1400"/>
              <a:t>CSDL PostgreSQL</a:t>
            </a:r>
          </a:p>
          <a:p>
            <a:pPr/>
            <a:r>
              <a:rPr sz="1600"/>
              <a:t>Giao tiếp HTTP/JSON, xác thực JWT, đóng gói Docker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663440" y="1463040"/>
            <a:ext cx="4023360" cy="4754880"/>
          </a:xfrm>
          <a:prstGeom prst="rect">
            <a:avLst/>
          </a:prstGeom>
          <a:solidFill>
            <a:srgbClr val="F2F2F2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C00000"/>
                </a:solidFill>
              </a:rPr>
              <a:t>DÁN ẢNH VÀO ĐÂY</a:t>
            </a:r>
          </a:p>
          <a:p>
            <a:pPr algn="ctr"/>
            <a:r>
              <a:rPr sz="1300">
                <a:solidFill>
                  <a:srgbClr val="666666"/>
                </a:solidFill>
              </a:rPr>
              <a:t>figures/trienkhai.png
(hoặc pkg_phude.png)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Phân tích chức năng — Use case tổng quát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457200" y="1463040"/>
            <a:ext cx="4023360" cy="4754880"/>
          </a:xfrm>
        </p:spPr>
        <p:txBody>
          <a:bodyPr wrap="square"/>
          <a:lstStyle/>
          <a:p>
            <a:pPr/>
            <a:r>
              <a:rPr sz="1600"/>
              <a:t>Ba tác nhân: Khách / Người dùng / Quản trị viên</a:t>
            </a:r>
          </a:p>
          <a:p>
            <a:pPr/>
            <a:r>
              <a:rPr sz="1600"/>
              <a:t>Nhóm chức năng chính:</a:t>
            </a:r>
          </a:p>
          <a:p>
            <a:pPr lvl="1"/>
            <a:r>
              <a:rPr sz="1400"/>
              <a:t>Nhận diện món ăn, tra cứu &amp; duyệt công thức</a:t>
            </a:r>
          </a:p>
          <a:p>
            <a:pPr lvl="1"/>
            <a:r>
              <a:rPr sz="1400"/>
              <a:t>Cộng đồng, kế hoạch bữa ăn, bản tin</a:t>
            </a:r>
          </a:p>
          <a:p>
            <a:pPr lvl="1"/>
            <a:r>
              <a:rPr sz="1400"/>
              <a:t>Quản trị &amp; kiểm duyệt nội dung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663440" y="1463040"/>
            <a:ext cx="4023360" cy="4754880"/>
          </a:xfrm>
          <a:prstGeom prst="rect">
            <a:avLst/>
          </a:prstGeom>
          <a:solidFill>
            <a:srgbClr val="F2F2F2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C00000"/>
                </a:solidFill>
              </a:rPr>
              <a:t>DÁN ẢNH VÀO ĐÂY</a:t>
            </a:r>
          </a:p>
          <a:p>
            <a:pPr algn="ctr"/>
            <a:r>
              <a:rPr sz="1300">
                <a:solidFill>
                  <a:srgbClr val="666666"/>
                </a:solidFill>
              </a:rPr>
              <a:t>figures/usecase_tong_quat.png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Thiết kế cơ sở dữ liệu (ERD)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457200" y="1463040"/>
            <a:ext cx="4023360" cy="4754880"/>
          </a:xfrm>
        </p:spPr>
        <p:txBody>
          <a:bodyPr wrap="square"/>
          <a:lstStyle/>
          <a:p>
            <a:pPr/>
            <a:r>
              <a:rPr sz="1600"/>
              <a:t>13 bảng quan hệ</a:t>
            </a:r>
          </a:p>
          <a:p>
            <a:pPr/>
            <a:r>
              <a:rPr sz="1600"/>
              <a:t>Trung tâm: recipes → nguyên liệu, các bước</a:t>
            </a:r>
          </a:p>
          <a:p>
            <a:pPr/>
            <a:r>
              <a:rPr sz="1600"/>
              <a:t>User, đánh giá, bình luận, kế hoạch bữa ăn</a:t>
            </a:r>
          </a:p>
          <a:p>
            <a:pPr/>
            <a:r>
              <a:rPr sz="1600"/>
              <a:t>Yêu cầu thay đổi (JSONB) cho quy trình đóng góp</a:t>
            </a:r>
          </a:p>
        </p:txBody>
      </p:sp>
      <p:sp>
        <p:nvSpPr>
          <p:cNvPr id="4" name="Rectangle 3"/>
          <p:cNvSpPr/>
          <p:nvPr/>
        </p:nvSpPr>
        <p:spPr>
          <a:xfrm>
            <a:off x="4663440" y="1463040"/>
            <a:ext cx="4023360" cy="4754880"/>
          </a:xfrm>
          <a:prstGeom prst="rect">
            <a:avLst/>
          </a:prstGeom>
          <a:solidFill>
            <a:srgbClr val="F2F2F2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C00000"/>
                </a:solidFill>
              </a:rPr>
              <a:t>DÁN ẢNH VÀO ĐÂY</a:t>
            </a:r>
          </a:p>
          <a:p>
            <a:pPr algn="ctr"/>
            <a:r>
              <a:rPr sz="1300">
                <a:solidFill>
                  <a:srgbClr val="666666"/>
                </a:solidFill>
              </a:rPr>
              <a:t>figures/erd.png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Thiết kế hoạt động: Nhận diện món ăn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457200" y="1463040"/>
            <a:ext cx="4023360" cy="4754880"/>
          </a:xfrm>
        </p:spPr>
        <p:txBody>
          <a:bodyPr wrap="square"/>
          <a:lstStyle/>
          <a:p>
            <a:pPr/>
            <a:r>
              <a:rPr sz="1600"/>
              <a:t>Tải ảnh → tiền xử lý</a:t>
            </a:r>
          </a:p>
          <a:p>
            <a:pPr/>
            <a:r>
              <a:rPr sz="1600"/>
              <a:t>Hai tầng EfficientNet dự đoán</a:t>
            </a:r>
          </a:p>
          <a:p>
            <a:pPr/>
            <a:r>
              <a:rPr sz="1600"/>
              <a:t>Đủ tin cậy: ánh xạ về công thức chuẩn</a:t>
            </a:r>
          </a:p>
          <a:p>
            <a:pPr/>
            <a:r>
              <a:rPr sz="1600"/>
              <a:t>Không đủ: báo “không nhận diện được”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4663440" y="1463040"/>
            <a:ext cx="4023360" cy="4754880"/>
          </a:xfrm>
          <a:prstGeom prst="rect">
            <a:avLst/>
          </a:prstGeom>
          <a:solidFill>
            <a:srgbClr val="F2F2F2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C00000"/>
                </a:solidFill>
              </a:rPr>
              <a:t>DÁN ẢNH VÀO ĐÂY</a:t>
            </a:r>
          </a:p>
          <a:p>
            <a:pPr algn="ctr"/>
            <a:r>
              <a:rPr sz="1300">
                <a:solidFill>
                  <a:srgbClr val="666666"/>
                </a:solidFill>
              </a:rPr>
              <a:t>figures/quytrinh_nhan_dien.png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Thiết kế hoạt động: Đề xuất &amp; duyệt công thức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457200" y="1463040"/>
            <a:ext cx="4023360" cy="4754880"/>
          </a:xfrm>
        </p:spPr>
        <p:txBody>
          <a:bodyPr wrap="square"/>
          <a:lstStyle/>
          <a:p>
            <a:pPr/>
            <a:r>
              <a:rPr sz="1600"/>
              <a:t>Người dùng gửi “yêu cầu thay đổi” (chờ duyệt)</a:t>
            </a:r>
          </a:p>
          <a:p>
            <a:pPr/>
            <a:r>
              <a:rPr sz="1600"/>
              <a:t>Quản trị viên duyệt hoặc từ chối kèm lý do</a:t>
            </a:r>
          </a:p>
          <a:p>
            <a:pPr/>
            <a:r>
              <a:rPr sz="1600"/>
              <a:t>Được duyệt: áp dụng thay đổi vào kho</a:t>
            </a:r>
          </a:p>
          <a:p>
            <a:pPr/>
            <a:r>
              <a:rPr sz="1600"/>
              <a:t>Thống nhất cho cả tạo / sửa / xóa</a:t>
            </a:r>
          </a:p>
        </p:txBody>
      </p:sp>
      <p:sp>
        <p:nvSpPr>
          <p:cNvPr id="4" name="Rectangle 3"/>
          <p:cNvSpPr/>
          <p:nvPr/>
        </p:nvSpPr>
        <p:spPr>
          <a:xfrm>
            <a:off x="4663440" y="1463040"/>
            <a:ext cx="4023360" cy="4754880"/>
          </a:xfrm>
          <a:prstGeom prst="rect">
            <a:avLst/>
          </a:prstGeom>
          <a:solidFill>
            <a:srgbClr val="F2F2F2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C00000"/>
                </a:solidFill>
              </a:rPr>
              <a:t>DÁN ẢNH VÀO ĐÂY</a:t>
            </a:r>
          </a:p>
          <a:p>
            <a:pPr algn="ctr"/>
            <a:r>
              <a:rPr sz="1300">
                <a:solidFill>
                  <a:srgbClr val="666666"/>
                </a:solidFill>
              </a:rPr>
              <a:t>figures/quytrinh_de_xuat_duyet_cong_thuc.png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Điểm nhấn: Kiến trúc nhận diện hai tầng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457200" y="1463040"/>
            <a:ext cx="4023360" cy="4754880"/>
          </a:xfrm>
        </p:spPr>
        <p:txBody>
          <a:bodyPr wrap="square"/>
          <a:lstStyle/>
          <a:p>
            <a:pPr/>
            <a:r>
              <a:rPr sz="1600"/>
              <a:t>Tầng 1 — EfficientNet-B0: phân 8 nhóm món</a:t>
            </a:r>
          </a:p>
          <a:p>
            <a:pPr/>
            <a:r>
              <a:rPr sz="1600"/>
              <a:t>Tầng 2 — EfficientNet-B2 chuyên biệt: món chi tiết</a:t>
            </a:r>
          </a:p>
          <a:p>
            <a:pPr/>
            <a:r>
              <a:rPr sz="1600"/>
              <a:t>Vận dụng hướng phân cấp coarse-to-fine (HD-CNN, B-CNN)</a:t>
            </a:r>
          </a:p>
          <a:p>
            <a:pPr/>
            <a:r>
              <a:rPr sz="1600"/>
              <a:t>Mỗi mô hình con chỉ phân biệt ít lớp → tăng độ chính xác</a:t>
            </a:r>
          </a:p>
        </p:txBody>
      </p:sp>
      <p:sp>
        <p:nvSpPr>
          <p:cNvPr id="4" name="Rectangle 3"/>
          <p:cNvSpPr/>
          <p:nvPr/>
        </p:nvSpPr>
        <p:spPr>
          <a:xfrm>
            <a:off x="4663440" y="1463040"/>
            <a:ext cx="4023360" cy="4754880"/>
          </a:xfrm>
          <a:prstGeom prst="rect">
            <a:avLst/>
          </a:prstGeom>
          <a:solidFill>
            <a:srgbClr val="F2F2F2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C00000"/>
                </a:solidFill>
              </a:rPr>
              <a:t>DÁN ẢNH VÀO ĐÂY</a:t>
            </a:r>
          </a:p>
          <a:p>
            <a:pPr algn="ctr"/>
            <a:r>
              <a:rPr sz="1300">
                <a:solidFill>
                  <a:srgbClr val="666666"/>
                </a:solidFill>
              </a:rPr>
              <a:t>figures/kientruc_2tang.png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Kiến trúc phần mềm (biểu đồ lớp)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457200" y="1463040"/>
            <a:ext cx="4023360" cy="4754880"/>
          </a:xfrm>
        </p:spPr>
        <p:txBody>
          <a:bodyPr wrap="square"/>
          <a:lstStyle/>
          <a:p>
            <a:pPr/>
            <a:r>
              <a:rPr sz="1600"/>
              <a:t>AIService điều phối luồng nhận diện</a:t>
            </a:r>
          </a:p>
          <a:p>
            <a:pPr/>
            <a:r>
              <a:rPr sz="1600"/>
              <a:t>TastyVietnamPredictor (B0 + B2) dự đoán</a:t>
            </a:r>
          </a:p>
          <a:p>
            <a:pPr/>
            <a:r>
              <a:rPr sz="1600"/>
              <a:t>DishResolver ánh xạ nhãn → định danh món</a:t>
            </a:r>
          </a:p>
          <a:p>
            <a:pPr/>
            <a:r>
              <a:rPr sz="1600"/>
              <a:t>RecipeService truy công thức chuẩn</a:t>
            </a:r>
          </a:p>
        </p:txBody>
      </p:sp>
      <p:sp>
        <p:nvSpPr>
          <p:cNvPr id="4" name="Rectangle 3"/>
          <p:cNvSpPr/>
          <p:nvPr/>
        </p:nvSpPr>
        <p:spPr>
          <a:xfrm>
            <a:off x="4663440" y="1463040"/>
            <a:ext cx="4023360" cy="4754880"/>
          </a:xfrm>
          <a:prstGeom prst="rect">
            <a:avLst/>
          </a:prstGeom>
          <a:solidFill>
            <a:srgbClr val="F2F2F2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C00000"/>
                </a:solidFill>
              </a:rPr>
              <a:t>DÁN ẢNH VÀO ĐÂY</a:t>
            </a:r>
          </a:p>
          <a:p>
            <a:pPr algn="ctr"/>
            <a:r>
              <a:rPr sz="1300">
                <a:solidFill>
                  <a:srgbClr val="666666"/>
                </a:solidFill>
              </a:rPr>
              <a:t>figures/lopthietke_nhandien.png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Kết quả: Độ chính xác mô hình nhận diện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457200" y="1463040"/>
            <a:ext cx="4023360" cy="4754880"/>
          </a:xfrm>
        </p:spPr>
        <p:txBody>
          <a:bodyPr wrap="square"/>
          <a:lstStyle/>
          <a:p>
            <a:pPr/>
            <a:r>
              <a:rPr sz="1600"/>
              <a:t>Bộ phân loại nhóm: ~92,48%</a:t>
            </a:r>
          </a:p>
          <a:p>
            <a:pPr/>
            <a:r>
              <a:rPr sz="1600"/>
              <a:t>Các bộ phân loại món: 89,95% – 98,88%</a:t>
            </a:r>
          </a:p>
          <a:p>
            <a:pPr/>
            <a:r>
              <a:rPr sz="1600"/>
              <a:t>Mô hình chuyên biệt: chạy cục bộ, chủ động ràng buộc công thức</a:t>
            </a:r>
          </a:p>
          <a:p>
            <a:pPr/>
            <a:r>
              <a:rPr sz="1600"/>
              <a:t>So với API đa năng: phủ rộng nhưng khó ánh xạ công thức, tốn phí/độ trễ</a:t>
            </a:r>
          </a:p>
        </p:txBody>
      </p:sp>
      <p:sp>
        <p:nvSpPr>
          <p:cNvPr id="4" name="Rectangle 3"/>
          <p:cNvSpPr/>
          <p:nvPr/>
        </p:nvSpPr>
        <p:spPr>
          <a:xfrm>
            <a:off x="4663440" y="1463040"/>
            <a:ext cx="4023360" cy="4754880"/>
          </a:xfrm>
          <a:prstGeom prst="rect">
            <a:avLst/>
          </a:prstGeom>
          <a:solidFill>
            <a:srgbClr val="F2F2F2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C00000"/>
                </a:solidFill>
              </a:rPr>
              <a:t>DÁN ẢNH VÀO ĐÂY</a:t>
            </a:r>
          </a:p>
          <a:p>
            <a:pPr algn="ctr"/>
            <a:r>
              <a:rPr sz="1300">
                <a:solidFill>
                  <a:srgbClr val="666666"/>
                </a:solidFill>
              </a:rPr>
              <a:t>figures/cm_group.png
(ma trận nhầm lẫn)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Kết quả: Màn hình chức năng chính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457200" y="1463040"/>
            <a:ext cx="4023360" cy="4754880"/>
          </a:xfrm>
        </p:spPr>
        <p:txBody>
          <a:bodyPr wrap="square"/>
          <a:lstStyle/>
          <a:p>
            <a:pPr/>
            <a:r>
              <a:rPr sz="1600"/>
              <a:t>Trang chủ, tìm kiếm &amp; lọc công thức</a:t>
            </a:r>
          </a:p>
          <a:p>
            <a:pPr/>
            <a:r>
              <a:rPr sz="1600"/>
              <a:t>Chi tiết công thức: nguyên liệu, các bước</a:t>
            </a:r>
          </a:p>
          <a:p>
            <a:pPr/>
            <a:r>
              <a:rPr sz="1600"/>
              <a:t>Kho ~47 công thức đại diện (gắn 103 lớp AI)</a:t>
            </a:r>
          </a:p>
        </p:txBody>
      </p:sp>
      <p:sp>
        <p:nvSpPr>
          <p:cNvPr id="4" name="Rectangle 3"/>
          <p:cNvSpPr/>
          <p:nvPr/>
        </p:nvSpPr>
        <p:spPr>
          <a:xfrm>
            <a:off x="4663440" y="1463040"/>
            <a:ext cx="4023360" cy="4754880"/>
          </a:xfrm>
          <a:prstGeom prst="rect">
            <a:avLst/>
          </a:prstGeom>
          <a:solidFill>
            <a:srgbClr val="F2F2F2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C00000"/>
                </a:solidFill>
              </a:rPr>
              <a:t>DÁN ẢNH VÀO ĐÂY</a:t>
            </a:r>
          </a:p>
          <a:p>
            <a:pPr algn="ctr"/>
            <a:r>
              <a:rPr sz="1300">
                <a:solidFill>
                  <a:srgbClr val="666666"/>
                </a:solidFill>
              </a:rPr>
              <a:t>figures/man_trangchu.png
figures/man_chitiet.png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Kết quả: Nhận diện ảnh + Chế độ nấu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457200" y="1463040"/>
            <a:ext cx="4023360" cy="4754880"/>
          </a:xfrm>
        </p:spPr>
        <p:txBody>
          <a:bodyPr wrap="square"/>
          <a:lstStyle/>
          <a:p>
            <a:pPr/>
            <a:r>
              <a:rPr sz="1600"/>
              <a:t>Chụp/tải ảnh → ra món + công thức chuẩn</a:t>
            </a:r>
          </a:p>
          <a:p>
            <a:pPr/>
            <a:r>
              <a:rPr sz="1600"/>
              <a:t>Chế độ nấu theo từng bước</a:t>
            </a:r>
          </a:p>
          <a:p>
            <a:pPr/>
            <a:r>
              <a:rPr sz="1600"/>
              <a:t>Đọc bước bằng giọng nói (TTS), hẹn giờ đếm ngược</a:t>
            </a:r>
          </a:p>
        </p:txBody>
      </p:sp>
      <p:sp>
        <p:nvSpPr>
          <p:cNvPr id="4" name="Rectangle 3"/>
          <p:cNvSpPr/>
          <p:nvPr/>
        </p:nvSpPr>
        <p:spPr>
          <a:xfrm>
            <a:off x="4663440" y="1463040"/>
            <a:ext cx="4023360" cy="4754880"/>
          </a:xfrm>
          <a:prstGeom prst="rect">
            <a:avLst/>
          </a:prstGeom>
          <a:solidFill>
            <a:srgbClr val="F2F2F2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C00000"/>
                </a:solidFill>
              </a:rPr>
              <a:t>DÁN ẢNH VÀO ĐÂY</a:t>
            </a:r>
          </a:p>
          <a:p>
            <a:pPr algn="ctr"/>
            <a:r>
              <a:rPr sz="1300">
                <a:solidFill>
                  <a:srgbClr val="666666"/>
                </a:solidFill>
              </a:rPr>
              <a:t>figures/man_nhandien.png
figures/man_cachnau.png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Kết quả: Kế hoạch bữa ăn, cộng đồng &amp; bản tin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457200" y="1463040"/>
            <a:ext cx="4023360" cy="4754880"/>
          </a:xfrm>
        </p:spPr>
        <p:txBody>
          <a:bodyPr wrap="square"/>
          <a:lstStyle/>
          <a:p>
            <a:pPr/>
            <a:r>
              <a:rPr sz="1600"/>
              <a:t>Kế hoạch bữa ăn theo tuần + danh sách đi chợ tự động</a:t>
            </a:r>
          </a:p>
          <a:p>
            <a:pPr/>
            <a:r>
              <a:rPr sz="1600"/>
              <a:t>Đánh giá / bình luận / lưu công thức; trang quản trị</a:t>
            </a:r>
          </a:p>
          <a:p>
            <a:pPr/>
            <a:r>
              <a:rPr sz="1600"/>
              <a:t>[Thêm mới so với báo cáo] Bản tin công thức qua email</a:t>
            </a:r>
          </a:p>
          <a:p>
            <a:pPr lvl="1"/>
            <a:r>
              <a:rPr sz="1400"/>
              <a:t>Đăng ký / hủy nhận; quản trị viên gửi bản tin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663440" y="1463040"/>
            <a:ext cx="4023360" cy="4754880"/>
          </a:xfrm>
          <a:prstGeom prst="rect">
            <a:avLst/>
          </a:prstGeom>
          <a:solidFill>
            <a:srgbClr val="F2F2F2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C00000"/>
                </a:solidFill>
              </a:rPr>
              <a:t>DÁN ẢNH VÀO ĐÂY</a:t>
            </a:r>
          </a:p>
          <a:p>
            <a:pPr algn="ctr"/>
            <a:r>
              <a:rPr sz="1300">
                <a:solidFill>
                  <a:srgbClr val="666666"/>
                </a:solidFill>
              </a:rPr>
              <a:t>figures/man_kehoach.png
figures/man_quantri.png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Kết luận và Cảm ơn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/>
            <a:r>
              <a:rPr sz="1600"/>
              <a:t>Đóng góp nổi bật:</a:t>
            </a:r>
          </a:p>
          <a:p>
            <a:pPr lvl="1"/>
            <a:r>
              <a:rPr sz="1400"/>
              <a:t>Quy trình liền mạch: chụp ảnh → công thức → nấu → kế hoạch</a:t>
            </a:r>
          </a:p>
          <a:p>
            <a:pPr lvl="1"/>
            <a:r>
              <a:rPr sz="1400"/>
              <a:t>Ràng buộc nhất quán nhận diện – kho công thức; nhận diện hai tầng</a:t>
            </a:r>
          </a:p>
          <a:p>
            <a:pPr/>
            <a:r>
              <a:rPr sz="1600"/>
              <a:t>Hạn chế: mới chạy cục bộ; catalog phủ 47/103 lớp (nguồn monngonmoingay)</a:t>
            </a:r>
          </a:p>
          <a:p>
            <a:pPr/>
            <a:r>
              <a:rPr sz="1600"/>
              <a:t>Trân trọng cảm ơn các thầy cô đã lắng nghe!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Giải pháp mở rộng &amp; Hướng phát triển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/>
            <a:r>
              <a:rPr sz="1500"/>
              <a:t>Mở rộng khả năng chịu tải &amp; hiệu năng:</a:t>
            </a:r>
          </a:p>
          <a:p>
            <a:pPr lvl="1"/>
            <a:r>
              <a:rPr sz="1300"/>
              <a:t>Tách suy luận AI ra worker/hàng đợi riêng; GPU + xử lý theo lô</a:t>
            </a:r>
          </a:p>
          <a:p>
            <a:pPr lvl="1"/>
            <a:r>
              <a:rPr sz="1300"/>
              <a:t>Nhiều worker (Gunicorn) sau Nginx; container hóa, mở rộng theo chiều ngang</a:t>
            </a:r>
          </a:p>
          <a:p>
            <a:pPr lvl="1"/>
            <a:r>
              <a:rPr sz="1300"/>
              <a:t>Cache đọc nóng (Redis), CDN ảnh, nâng cấp pool cơ sở dữ liệu</a:t>
            </a:r>
          </a:p>
          <a:p>
            <a:pPr/>
            <a:r>
              <a:rPr sz="1500"/>
              <a:t>Bảo mật khi triển khai thực tế:</a:t>
            </a:r>
          </a:p>
          <a:p>
            <a:pPr lvl="1"/>
            <a:r>
              <a:rPr sz="1300"/>
              <a:t>HTTPS/TLS, giới hạn tần suất (rate limit), security headers</a:t>
            </a:r>
          </a:p>
          <a:p>
            <a:pPr/>
            <a:r>
              <a:rPr sz="1500"/>
              <a:t>Phát triển tính năng:</a:t>
            </a:r>
          </a:p>
          <a:p>
            <a:pPr lvl="1"/>
            <a:r>
              <a:rPr sz="1300"/>
              <a:t>Đưa lên cloud; ứng dụng di động tận dụng camera</a:t>
            </a:r>
          </a:p>
          <a:p>
            <a:pPr lvl="1"/>
            <a:r>
              <a:rPr sz="1300"/>
              <a:t>Blog cộng đồng có kiểm duyệt; cá nhân hóa theo nhu cầu dinh dưỡng</a:t>
            </a:r>
          </a:p>
          <a:p>
            <a:pPr lvl="1"/>
            <a:r>
              <a:rPr sz="1300"/>
              <a:t>Thay/kết hợp mô hình nhận diện bằng API đa phương thức (OpenAI/Gemini)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143</TotalTime>
  <Words>25</Words>
  <Application>Microsoft Office PowerPoint</Application>
  <PresentationFormat>Trình chiếu Trên màn hình (4:3)</PresentationFormat>
  <Paragraphs>15</Paragraphs>
  <Slides>13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3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13</vt:i4>
      </vt:variant>
    </vt:vector>
  </HeadingPairs>
  <TitlesOfParts>
    <vt:vector size="17" baseType="lpstr">
      <vt:lpstr>Arial</vt:lpstr>
      <vt:lpstr>Calibri</vt:lpstr>
      <vt:lpstr>Lato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HUST CCPR</cp:lastModifiedBy>
  <cp:revision>12</cp:revision>
  <dcterms:created xsi:type="dcterms:W3CDTF">2021-05-28T04:32:29Z</dcterms:created>
  <dcterms:modified xsi:type="dcterms:W3CDTF">2022-12-12T05:01:43Z</dcterms:modified>
</cp:coreProperties>
</file>