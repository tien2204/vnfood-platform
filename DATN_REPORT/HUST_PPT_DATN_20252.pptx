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33"/>
  </p:notesMasterIdLst>
  <p:handoutMasterIdLst>
    <p:handoutMasterId r:id="rId34"/>
  </p:handoutMasterIdLst>
  <p:sldIdLst>
    <p:sldId id="275" r:id="rId2"/>
    <p:sldId id="276" r:id="rId3"/>
    <p:sldId id="257" r:id="rId4"/>
    <p:sldId id="265" r:id="rId5"/>
    <p:sldId id="261" r:id="rId6"/>
    <p:sldId id="266" r:id="rId7"/>
    <p:sldId id="277" r:id="rId8"/>
    <p:sldId id="270" r:id="rId9"/>
    <p:sldId id="278" r:id="rId10"/>
    <p:sldId id="279" r:id="rId11"/>
    <p:sldId id="280" r:id="rId12"/>
    <p:sldId id="281" r:id="rId13"/>
    <p:sldId id="282" r:id="rId14"/>
    <p:sldId id="289" r:id="rId15"/>
    <p:sldId id="290" r:id="rId16"/>
    <p:sldId id="291" r:id="rId17"/>
    <p:sldId id="292" r:id="rId18"/>
    <p:sldId id="293" r:id="rId19"/>
    <p:sldId id="284" r:id="rId20"/>
    <p:sldId id="294" r:id="rId21"/>
    <p:sldId id="285" r:id="rId22"/>
    <p:sldId id="295" r:id="rId23"/>
    <p:sldId id="296" r:id="rId24"/>
    <p:sldId id="286" r:id="rId25"/>
    <p:sldId id="287" r:id="rId26"/>
    <p:sldId id="267" r:id="rId27"/>
    <p:sldId id="271" r:id="rId28"/>
    <p:sldId id="272" r:id="rId29"/>
    <p:sldId id="273" r:id="rId30"/>
    <p:sldId id="274" r:id="rId31"/>
    <p:sldId id="269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63" d="100"/>
          <a:sy n="63" d="100"/>
        </p:scale>
        <p:origin x="13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15024"/>
            <a:ext cx="8674100" cy="488097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3716-1A4C-0838-86B6-64CAAF77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331732" y="13548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vi-VN"/>
              <a:t>Xây dựng website nhận diện ảnh món ăn</a:t>
            </a:r>
          </a:p>
          <a:p>
            <a:r>
              <a:rPr lang="vi-VN"/>
              <a:t>và tư vấn nấu món ăn</a:t>
            </a:r>
            <a:endParaRPr lang="en-US" dirty="0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331732" y="3805580"/>
            <a:ext cx="8812268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400" b="0"/>
              <a:t>Sinh viên thực hiện : Vũ Hữu Tiến - 20225231</a:t>
            </a:r>
            <a:endParaRPr lang="en-US" sz="2400" b="0" dirty="0"/>
          </a:p>
          <a:p>
            <a:r>
              <a:rPr lang="en-US" sz="2400" b="0"/>
              <a:t>Giảng viên hướng dẫn: PGS. TS. Nguyễn Thị Hoàng Lan</a:t>
            </a: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 trình bày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6" y="841247"/>
            <a:ext cx="9010523" cy="530339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vi-VN"/>
              <a:t>Mục tiêu đồ án</a:t>
            </a:r>
          </a:p>
          <a:p>
            <a:pPr marL="514350" indent="-514350">
              <a:buFont typeface="+mj-lt"/>
              <a:buAutoNum type="arabicPeriod"/>
            </a:pPr>
            <a:r>
              <a:rPr lang="vi-VN"/>
              <a:t>Phân tích bài toán và giải pháp</a:t>
            </a:r>
          </a:p>
          <a:p>
            <a:pPr marL="514350" indent="-514350">
              <a:buFont typeface="+mj-lt"/>
              <a:buAutoNum type="arabicPeriod"/>
            </a:pPr>
            <a:r>
              <a:rPr lang="vi-VN"/>
              <a:t>Thiết kế hệ thống</a:t>
            </a:r>
          </a:p>
          <a:p>
            <a:pPr marL="514350" indent="-514350">
              <a:buFont typeface="+mj-lt"/>
              <a:buAutoNum type="arabicPeriod"/>
            </a:pPr>
            <a:r>
              <a:rPr lang="vi-VN"/>
              <a:t>Kết quả thử nghiệm</a:t>
            </a: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Hướng phát triển</a:t>
            </a:r>
            <a:endParaRPr lang="vi-VN"/>
          </a:p>
          <a:p>
            <a:pPr marL="514350" indent="-514350">
              <a:buFont typeface="+mj-lt"/>
              <a:buAutoNum type="arabicPeriod"/>
            </a:pPr>
            <a:r>
              <a:rPr lang="vi-VN"/>
              <a:t>Kết luậ</a:t>
            </a:r>
            <a:r>
              <a:rPr lang="en-US"/>
              <a:t>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1. Mục tiêu đồ án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70BE5C-77F2-92EB-9754-0F0EB03A1448}"/>
              </a:ext>
            </a:extLst>
          </p:cNvPr>
          <p:cNvSpPr txBox="1"/>
          <p:nvPr/>
        </p:nvSpPr>
        <p:spPr>
          <a:xfrm>
            <a:off x="254052" y="1442720"/>
            <a:ext cx="7213548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Đặt vấn đề: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Sinh viên hoặc người đi làm n</a:t>
            </a:r>
            <a:r>
              <a:rPr lang="vi-VN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ấu ăn tại nhà tăng, nhưng công thức món Việt rải rác, thiếu chuẩn hóa (định lượng, bước, thời gian, độ khó)</a:t>
            </a:r>
            <a:endParaRPr lang="en-US" sz="2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Khó lọc theo vùng miền / loại món / khẩu phần; khó lưu lại để dùng sau</a:t>
            </a:r>
            <a:endParaRPr lang="en-US" sz="2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Gặp món ngoài đời không biết tên → tìm theo từ khóa không xử lý được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Nội dung đóng góp tự do, thiếu cơ chế kiểm soát chất lượng</a:t>
            </a:r>
            <a:endParaRPr lang="en-US" sz="20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Mục tiêu: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Hệ thống web tập trung quản lý &amp; chia sẻ công thức món Việt đã chuẩn hóa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Nhận diện món ăn từ ảnh, gắn kết quả về kho công thức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Trải nghiệm liền mạch: phát hiện món → tra công thức → nấu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Phân tích bài toán và giải pháp (1/2)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vi-VN" sz="2400"/>
              <a:t>Bài toán 1 — Chuẩn hóa &amp; tổ chức kho công thức</a:t>
            </a:r>
          </a:p>
          <a:p>
            <a:pPr lvl="1"/>
            <a:r>
              <a:rPr lang="vi-VN" sz="2000" i="1"/>
              <a:t>Giải pháp</a:t>
            </a:r>
            <a:r>
              <a:rPr lang="vi-VN" sz="2000"/>
              <a:t>: cào dữ liệu từ monngonmoingay.com, chuẩn hóa nguyên liệu/bước/thời gian/độ khó về một lược đồ thống nhất</a:t>
            </a:r>
            <a:endParaRPr lang="en-US" sz="2000"/>
          </a:p>
          <a:p>
            <a:pPr lvl="1"/>
            <a:r>
              <a:rPr lang="vi-VN" sz="2000"/>
              <a:t>Gom theo định danh món, tuyển một tập công thức tiêu biểu làm tham chiếu cho mỗi lớp</a:t>
            </a:r>
            <a:endParaRPr lang="en-US" sz="2000"/>
          </a:p>
          <a:p>
            <a:r>
              <a:rPr lang="vi-VN" sz="2400"/>
              <a:t>Bài toán 2 — Nhận diện &gt;100 món Việt, nhiều lớp tương đồng</a:t>
            </a:r>
          </a:p>
          <a:p>
            <a:pPr lvl="1"/>
            <a:r>
              <a:rPr lang="vi-VN" sz="2000"/>
              <a:t>Giải pháp: CNN EfficientNet phân cấp hai tầng (coarse-to-fine)</a:t>
            </a:r>
          </a:p>
          <a:p>
            <a:pPr lvl="1"/>
            <a:r>
              <a:rPr lang="vi-VN" sz="2000"/>
              <a:t>Tầng 1 phân nhóm món → Tầng 2 mô hình chuyên biệt của nhóm xác định món cụ thể</a:t>
            </a:r>
          </a:p>
          <a:p>
            <a:pPr lvl="1"/>
            <a:r>
              <a:rPr lang="vi-VN" sz="2000"/>
              <a:t>Mỗi mô hình con chỉ phân biệt ít lớp → chính xác hơn một mô hình phẳng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F9B5-3CCD-5500-2B23-09A617ADF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89C1F9-3253-DEC5-F6D2-9F24977C6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450F9D-74F2-01E7-A928-0AF20535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Phân tích bài toán và giải pháp (2/2)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AD6E3-65DE-F539-D01A-041748CC2D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vi-VN" sz="2400"/>
              <a:t>Bài toán 3 — Gắn nhận diện với dữ liệu công thức</a:t>
            </a:r>
          </a:p>
          <a:p>
            <a:pPr lvl="1"/>
            <a:r>
              <a:rPr lang="vi-VN" sz="2000"/>
              <a:t>Giải pháp: thiết kế quy trình để kết quả luôn ánh xạ về công thức có thật trong kho</a:t>
            </a:r>
            <a:endParaRPr lang="en-US" sz="2000"/>
          </a:p>
          <a:p>
            <a:pPr lvl="1"/>
            <a:r>
              <a:rPr lang="vi-VN" sz="2000"/>
              <a:t>Không đủ tin cậy → báo "không nhận diện được", không đoán bừa</a:t>
            </a:r>
            <a:endParaRPr lang="en-US" sz="2000"/>
          </a:p>
          <a:p>
            <a:r>
              <a:rPr lang="vi-VN" sz="2400"/>
              <a:t>Bài toán 4 — Đóng góp nội dung có kiểm soát</a:t>
            </a:r>
          </a:p>
          <a:p>
            <a:pPr lvl="1"/>
            <a:r>
              <a:rPr lang="vi-VN" sz="2000"/>
              <a:t>Giải pháp: quy trình đề xuất → duyệt thống nhất cho tạo/sửa/xóa qua quản trị viên</a:t>
            </a:r>
            <a:endParaRPr lang="en-US" sz="2000"/>
          </a:p>
          <a:p>
            <a:pPr lvl="1"/>
            <a:r>
              <a:rPr lang="vi-VN" sz="2000"/>
              <a:t>Công nghệ: Next.js + FastAPI + PostgreSQL + PyTorch (EfficientNet), xác thực JWT, đóng gói Docker</a:t>
            </a:r>
          </a:p>
        </p:txBody>
      </p:sp>
    </p:spTree>
    <p:extLst>
      <p:ext uri="{BB962C8B-B14F-4D97-AF65-F5344CB8AC3E}">
        <p14:creationId xmlns:p14="http://schemas.microsoft.com/office/powerpoint/2010/main" val="18057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BBC82-5CC8-86B3-6CF8-6714E6B82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6588" y="1423289"/>
            <a:ext cx="3886200" cy="4351338"/>
          </a:xfrm>
        </p:spPr>
        <p:txBody>
          <a:bodyPr/>
          <a:lstStyle/>
          <a:p>
            <a:r>
              <a:rPr lang="en-US" sz="2000"/>
              <a:t>Ba lớp tách biệt:</a:t>
            </a:r>
          </a:p>
          <a:p>
            <a:pPr lvl="1"/>
            <a:r>
              <a:rPr lang="en-US" sz="2000"/>
              <a:t>Giao diện Next.js (trình duyệt)</a:t>
            </a:r>
          </a:p>
          <a:p>
            <a:pPr lvl="1"/>
            <a:r>
              <a:rPr lang="en-US" sz="2000"/>
              <a:t>Dịch vụ FastAPI, khối AI nhúng trực tiếp</a:t>
            </a:r>
          </a:p>
          <a:p>
            <a:pPr lvl="1"/>
            <a:r>
              <a:rPr lang="en-US" sz="2000"/>
              <a:t>CSDL PostgreSQL</a:t>
            </a:r>
          </a:p>
          <a:p>
            <a:r>
              <a:rPr lang="en-US" sz="2000"/>
              <a:t>Giao tiếp HTTP/JSON, xác thực JWT, đóng gói Docker</a:t>
            </a:r>
          </a:p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DE1C221-98B3-2531-57B3-77A53E5BC7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788" y="1250907"/>
            <a:ext cx="4728972" cy="520272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131D202-5F2A-ABF7-24FC-3F311F5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Thiết kế hệ thống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B0406-C280-A223-0C9D-8640D7368B1D}"/>
              </a:ext>
            </a:extLst>
          </p:cNvPr>
          <p:cNvSpPr txBox="1"/>
          <p:nvPr/>
        </p:nvSpPr>
        <p:spPr>
          <a:xfrm>
            <a:off x="2549383" y="703051"/>
            <a:ext cx="431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Kiến trúc tổng quan hệ thống</a:t>
            </a:r>
          </a:p>
        </p:txBody>
      </p:sp>
    </p:spTree>
    <p:extLst>
      <p:ext uri="{BB962C8B-B14F-4D97-AF65-F5344CB8AC3E}">
        <p14:creationId xmlns:p14="http://schemas.microsoft.com/office/powerpoint/2010/main" val="1341840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A4296-7C3F-41F1-C111-1C972FE7E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331F1D-3044-487E-FA61-F61A8C6F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DE8CEC-B343-2BBD-1E87-9C6977058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957" y="720616"/>
            <a:ext cx="8673846" cy="451739"/>
          </a:xfrm>
        </p:spPr>
        <p:txBody>
          <a:bodyPr/>
          <a:lstStyle/>
          <a:p>
            <a:r>
              <a:rPr lang="en-US"/>
              <a:t>Phân tích chức năng — Use case tổng quát</a:t>
            </a:r>
          </a:p>
        </p:txBody>
      </p:sp>
      <p:pic>
        <p:nvPicPr>
          <p:cNvPr id="13" name="Picture 12" descr="PlantUML diagram">
            <a:extLst>
              <a:ext uri="{FF2B5EF4-FFF2-40B4-BE49-F238E27FC236}">
                <a16:creationId xmlns:a16="http://schemas.microsoft.com/office/drawing/2014/main" id="{0B4A7CBA-B448-3750-8BBA-DD95E8917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6" y="1472667"/>
            <a:ext cx="8980007" cy="44083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4978A8-02D2-BAC6-1329-D4B8A4588516}"/>
              </a:ext>
            </a:extLst>
          </p:cNvPr>
          <p:cNvSpPr txBox="1"/>
          <p:nvPr/>
        </p:nvSpPr>
        <p:spPr>
          <a:xfrm>
            <a:off x="205740" y="47240"/>
            <a:ext cx="48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Thiết kế hệ thống</a:t>
            </a:r>
          </a:p>
        </p:txBody>
      </p:sp>
    </p:spTree>
    <p:extLst>
      <p:ext uri="{BB962C8B-B14F-4D97-AF65-F5344CB8AC3E}">
        <p14:creationId xmlns:p14="http://schemas.microsoft.com/office/powerpoint/2010/main" val="2048672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B85F9-A00A-ACB2-0888-725671B54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7A68AF-CBD2-5133-5BD4-7C62B6C8E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BF7EC3B-BF5C-F1F1-32DD-CC20C10721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9" y="1344187"/>
            <a:ext cx="9054311" cy="480499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6822719-83AC-768C-E2CC-20DF6EE83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858" y="708820"/>
            <a:ext cx="6074283" cy="451739"/>
          </a:xfrm>
        </p:spPr>
        <p:txBody>
          <a:bodyPr/>
          <a:lstStyle/>
          <a:p>
            <a:pPr algn="ctr"/>
            <a:r>
              <a:rPr lang="vi-VN"/>
              <a:t>Thiết kế cơ sở dữ liệu (ERD)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D83CF8-83F6-3C1B-F19D-15D2E8E3B0AC}"/>
              </a:ext>
            </a:extLst>
          </p:cNvPr>
          <p:cNvSpPr txBox="1"/>
          <p:nvPr/>
        </p:nvSpPr>
        <p:spPr>
          <a:xfrm>
            <a:off x="175260" y="10160"/>
            <a:ext cx="48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Thiết kế hệ thống</a:t>
            </a:r>
          </a:p>
        </p:txBody>
      </p:sp>
    </p:spTree>
    <p:extLst>
      <p:ext uri="{BB962C8B-B14F-4D97-AF65-F5344CB8AC3E}">
        <p14:creationId xmlns:p14="http://schemas.microsoft.com/office/powerpoint/2010/main" val="2909438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24D37-223D-F08C-B33D-0841CAE3C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DB2F4E-77A0-58F6-65AF-325435A94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E656F-6EB4-A46E-5F17-0D729856D6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3289"/>
            <a:ext cx="3886200" cy="4351338"/>
          </a:xfrm>
        </p:spPr>
        <p:txBody>
          <a:bodyPr/>
          <a:lstStyle/>
          <a:p>
            <a:r>
              <a:rPr lang="vi-VN" sz="2000"/>
              <a:t>Tải ảnh → tiền xử lý</a:t>
            </a:r>
          </a:p>
          <a:p>
            <a:r>
              <a:rPr lang="vi-VN" sz="2000"/>
              <a:t>Hai tầng EfficientNet dự đoán</a:t>
            </a:r>
          </a:p>
          <a:p>
            <a:r>
              <a:rPr lang="vi-VN" sz="2000"/>
              <a:t>Đủ tin cậy: ánh xạ về công thức chuẩn</a:t>
            </a:r>
          </a:p>
          <a:p>
            <a:r>
              <a:rPr lang="vi-VN" sz="2000"/>
              <a:t>Không đủ: báo “không nhận diện được”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88ACD26-F5E3-1E35-6533-F57A3372D4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44227" y="1211466"/>
            <a:ext cx="5257533" cy="536066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3FEF28B-3CC4-8AAC-8C91-2AF69213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37" y="759727"/>
            <a:ext cx="8673846" cy="451739"/>
          </a:xfrm>
        </p:spPr>
        <p:txBody>
          <a:bodyPr/>
          <a:lstStyle/>
          <a:p>
            <a:pPr algn="ctr"/>
            <a:r>
              <a:rPr lang="en-US" sz="2400"/>
              <a:t>Thiết kế hoạt động: Nhận diện món ăn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7C51E9-DAB9-F849-C939-A5C382E8F7AF}"/>
              </a:ext>
            </a:extLst>
          </p:cNvPr>
          <p:cNvSpPr txBox="1"/>
          <p:nvPr/>
        </p:nvSpPr>
        <p:spPr>
          <a:xfrm>
            <a:off x="205740" y="47240"/>
            <a:ext cx="48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Thiết kế hệ thống</a:t>
            </a:r>
          </a:p>
        </p:txBody>
      </p:sp>
    </p:spTree>
    <p:extLst>
      <p:ext uri="{BB962C8B-B14F-4D97-AF65-F5344CB8AC3E}">
        <p14:creationId xmlns:p14="http://schemas.microsoft.com/office/powerpoint/2010/main" val="14823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4F8B0-634B-A6A2-FD1E-AB146C787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7A5BEE-044E-BB4A-70E9-631AF7B46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C409E-A93B-25F0-E20B-E0CCC7A53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954" y="1490666"/>
            <a:ext cx="3059257" cy="4351338"/>
          </a:xfrm>
        </p:spPr>
        <p:txBody>
          <a:bodyPr/>
          <a:lstStyle/>
          <a:p>
            <a:r>
              <a:rPr lang="vi-VN" sz="2000"/>
              <a:t>Người dùng gửi “yêu cầu thay đổi” (chờ duyệt)</a:t>
            </a:r>
          </a:p>
          <a:p>
            <a:r>
              <a:rPr lang="vi-VN" sz="2000"/>
              <a:t>Quản trị viên duyệt hoặc từ chối kèm lý do</a:t>
            </a:r>
          </a:p>
          <a:p>
            <a:r>
              <a:rPr lang="vi-VN" sz="2000"/>
              <a:t>Được duyệt: áp dụng thay đổi vào kho</a:t>
            </a:r>
          </a:p>
          <a:p>
            <a:r>
              <a:rPr lang="vi-VN" sz="2000"/>
              <a:t>Thống nhất cho cả tạo / sửa / xóa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74B677F-C25D-E065-CE41-5E3A369B13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1959" y="1250907"/>
            <a:ext cx="5969802" cy="520272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03ED952-F63F-9A9D-D25F-5E2CE0B2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753813"/>
            <a:ext cx="8673846" cy="451739"/>
          </a:xfrm>
        </p:spPr>
        <p:txBody>
          <a:bodyPr/>
          <a:lstStyle/>
          <a:p>
            <a:pPr algn="ctr"/>
            <a:r>
              <a:rPr lang="en-US" sz="2400"/>
              <a:t>Thiết kế hoạt động: Đề xuất &amp; duyệt công thức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EA4976-CB33-97F5-4B80-AEF2BD3C7E7B}"/>
              </a:ext>
            </a:extLst>
          </p:cNvPr>
          <p:cNvSpPr txBox="1"/>
          <p:nvPr/>
        </p:nvSpPr>
        <p:spPr>
          <a:xfrm>
            <a:off x="205740" y="47240"/>
            <a:ext cx="48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Thiết kế hệ thống</a:t>
            </a:r>
          </a:p>
        </p:txBody>
      </p:sp>
    </p:spTree>
    <p:extLst>
      <p:ext uri="{BB962C8B-B14F-4D97-AF65-F5344CB8AC3E}">
        <p14:creationId xmlns:p14="http://schemas.microsoft.com/office/powerpoint/2010/main" val="4030680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6E541-98AA-A287-6A7A-E6DDF06C5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FD01BF-28A1-1534-0F1C-E1CAE747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D3778-CB9B-EB5B-B2BC-165100656C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61790"/>
            <a:ext cx="3886200" cy="4351338"/>
          </a:xfrm>
        </p:spPr>
        <p:txBody>
          <a:bodyPr/>
          <a:lstStyle/>
          <a:p>
            <a:r>
              <a:rPr lang="vi-VN" sz="2000"/>
              <a:t>Tầng 1 — EfficientNet-B0: phân 8 nhóm món</a:t>
            </a:r>
          </a:p>
          <a:p>
            <a:r>
              <a:rPr lang="vi-VN" sz="2000"/>
              <a:t>Tầng 2 — EfficientNet-B2 chuyên biệt: món chi tiết</a:t>
            </a:r>
          </a:p>
          <a:p>
            <a:r>
              <a:rPr lang="vi-VN" sz="2000"/>
              <a:t>Vận dụng hướng phân cấp coarse-to-fine </a:t>
            </a:r>
            <a:endParaRPr lang="en-US" sz="2000"/>
          </a:p>
          <a:p>
            <a:r>
              <a:rPr lang="vi-VN" sz="2000"/>
              <a:t>Mỗi mô hình con chỉ phân biệt ít lớp → tăng độ chính xác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2AC47C5-C8E0-5DA9-48C0-D538A34F26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0" y="1134531"/>
            <a:ext cx="4137612" cy="529289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19EEBD8-08D2-4B31-0570-D23CDC896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Điểm nhấn: Kiến trúc nhận diện hai tầng</a:t>
            </a:r>
          </a:p>
        </p:txBody>
      </p:sp>
    </p:spTree>
    <p:extLst>
      <p:ext uri="{BB962C8B-B14F-4D97-AF65-F5344CB8AC3E}">
        <p14:creationId xmlns:p14="http://schemas.microsoft.com/office/powerpoint/2010/main" val="4134017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7C291-839B-68C8-AAA2-62C60C346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8824AB-B908-18FA-F4CA-F1126FD4E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7FDF5-2B47-7335-AD74-C50719940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61790"/>
            <a:ext cx="7599680" cy="4351338"/>
          </a:xfrm>
        </p:spPr>
        <p:txBody>
          <a:bodyPr/>
          <a:lstStyle/>
          <a:p>
            <a:r>
              <a:rPr lang="vi-VN" sz="2000"/>
              <a:t>Mục tiêu: kiểm chứng lợi ích của cách chia bài toán 103 lớp thành 2 tầng.</a:t>
            </a:r>
          </a:p>
          <a:p>
            <a:r>
              <a:rPr lang="vi-VN" sz="2000"/>
              <a:t>Dữ liệu: bộ</a:t>
            </a:r>
            <a:r>
              <a:rPr lang="en-US" sz="2000"/>
              <a:t> dataset</a:t>
            </a:r>
            <a:r>
              <a:rPr lang="vi-VN" sz="2000"/>
              <a:t> </a:t>
            </a:r>
            <a:r>
              <a:rPr lang="en-US" sz="2000"/>
              <a:t>VNFood trên kaggle </a:t>
            </a:r>
            <a:r>
              <a:rPr lang="vi-VN" sz="2000"/>
              <a:t>(train/val/test</a:t>
            </a:r>
            <a:r>
              <a:rPr lang="en-US" sz="2000"/>
              <a:t>: 34,456/7383/7383 ảnh</a:t>
            </a:r>
            <a:r>
              <a:rPr lang="vi-VN" sz="2000"/>
              <a:t>), 103 lớp / 8 nhóm.</a:t>
            </a:r>
          </a:p>
          <a:p>
            <a:r>
              <a:rPr lang="vi-VN" sz="2000"/>
              <a:t>Điều kiện huấn luyện GIỐNG NHAU cho mọi mô hình (để so công bằng):</a:t>
            </a:r>
          </a:p>
          <a:p>
            <a:pPr lvl="1"/>
            <a:r>
              <a:rPr lang="vi-VN" sz="1600"/>
              <a:t>AdamW + CosineAnnealingLR; CrossEntropy có label smoothing; batch 32</a:t>
            </a:r>
          </a:p>
          <a:p>
            <a:pPr lvl="1"/>
            <a:r>
              <a:rPr lang="vi-VN" sz="1600"/>
              <a:t>Fine-tuning 3 pha: head (5 ep, 1e-3) → mở khối trên (10 ep, 1e-4) → toàn mạng (15 ep, 5e-5)</a:t>
            </a:r>
          </a:p>
          <a:p>
            <a:pPr lvl="1"/>
            <a:r>
              <a:rPr lang="vi-VN" sz="1600"/>
              <a:t>Tăng cường ảnh: RandomResizedCrop, HorizontalFlip, ColorJitter; chuẩn hóa ImageNet</a:t>
            </a:r>
          </a:p>
          <a:p>
            <a:pPr lvl="1"/>
            <a:r>
              <a:rPr lang="vi-VN" sz="1600"/>
              <a:t>Trọng số khởi tạo từ ImageNet (trừ CNN tự xây train từ đầu 30 epoch)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CF7611-68F9-AEEE-20B8-76657CED8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So sánh kiến trúc hai tầng và mô hình đơn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92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5968E-BBD5-8B9C-96E7-48FEA8827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16204-1210-0EDC-0CBD-F6454AC2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EA079-C04C-3580-DE36-7E2FD7375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61790"/>
            <a:ext cx="7599680" cy="4351338"/>
          </a:xfrm>
        </p:spPr>
        <p:txBody>
          <a:bodyPr/>
          <a:lstStyle/>
          <a:p>
            <a:r>
              <a:rPr lang="vi-VN" sz="2000"/>
              <a:t>Tầng 1 — Bộ phân loại NHÓM:</a:t>
            </a:r>
          </a:p>
          <a:p>
            <a:pPr lvl="1"/>
            <a:r>
              <a:rPr lang="vi-VN" sz="1600"/>
              <a:t>EfficientNet-B0, ảnh 224×224, đầu ra 8 nhóm món</a:t>
            </a:r>
          </a:p>
          <a:p>
            <a:r>
              <a:rPr lang="vi-VN" sz="2000"/>
              <a:t>Tầng 2 — 8 bộ phân loại MÓN chuyên biệt (mỗi nhóm một mô hình):</a:t>
            </a:r>
          </a:p>
          <a:p>
            <a:pPr lvl="1"/>
            <a:r>
              <a:rPr lang="vi-VN" sz="1600"/>
              <a:t>EfficientNet-B2, ảnh 260×260, đầu ra là các món trong nhóm đó</a:t>
            </a:r>
          </a:p>
          <a:p>
            <a:r>
              <a:rPr lang="vi-VN" sz="2000"/>
              <a:t>Huấn luyện: cùng lịch 3 pha ở trên</a:t>
            </a:r>
            <a:endParaRPr lang="en-US" sz="2000"/>
          </a:p>
          <a:p>
            <a:r>
              <a:rPr lang="en-US" sz="2000"/>
              <a:t>Inference</a:t>
            </a:r>
            <a:r>
              <a:rPr lang="vi-VN" sz="2000"/>
              <a:t>: ảnh</a:t>
            </a:r>
            <a:r>
              <a:rPr lang="en-US" sz="2000"/>
              <a:t> đầu vào</a:t>
            </a:r>
            <a:r>
              <a:rPr lang="vi-VN" sz="2000"/>
              <a:t> → Tầng 1 chọn nhóm → định tuyến sang mô hình con của nhóm → món chi tiết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7426B79-0F04-2459-6509-67215B9F5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Cấu hình &amp; cách huấn luyện — Kiến trúc hai tầng</a:t>
            </a:r>
          </a:p>
        </p:txBody>
      </p:sp>
    </p:spTree>
    <p:extLst>
      <p:ext uri="{BB962C8B-B14F-4D97-AF65-F5344CB8AC3E}">
        <p14:creationId xmlns:p14="http://schemas.microsoft.com/office/powerpoint/2010/main" val="842077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47FBE-DA63-3117-D770-DCE6FBDAB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B93E6C-836E-051C-07F0-8550DC8A6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1B8DB-8F16-54E8-3F23-6224C67B7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61790"/>
            <a:ext cx="7599680" cy="4351338"/>
          </a:xfrm>
        </p:spPr>
        <p:txBody>
          <a:bodyPr/>
          <a:lstStyle/>
          <a:p>
            <a:r>
              <a:rPr lang="en-US" sz="2000"/>
              <a:t>Simple CNN — tự xây, huấn luyện từ đầu (30 epoch): mốc tham chiếu thấp</a:t>
            </a:r>
          </a:p>
          <a:p>
            <a:r>
              <a:rPr lang="en-US" sz="2000"/>
              <a:t>EfficientNet-B0 (224×224) — pretrained ImageNet, cùng lịch 3 pha</a:t>
            </a:r>
          </a:p>
          <a:p>
            <a:r>
              <a:rPr lang="en-US" sz="2000"/>
              <a:t>EfficientNet-B2 (260×260) — pretrained ImageNet, cùng lịch 3 pha</a:t>
            </a:r>
          </a:p>
          <a:p>
            <a:r>
              <a:rPr lang="en-US" sz="2000"/>
              <a:t>ConvNeXt-Tiny — pretrained ImageNet, cùng lịch 3 pha</a:t>
            </a:r>
          </a:p>
          <a:p>
            <a:r>
              <a:rPr lang="en-US" sz="2000"/>
              <a:t>Tất cả đánh giá trên CÙNG tập kiểm tra 7.384 ảnh / 103 lớp.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DA5A4E-C67C-FF7E-8E30-0C5FF6B7E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6" y="78613"/>
            <a:ext cx="8827643" cy="451739"/>
          </a:xfrm>
        </p:spPr>
        <p:txBody>
          <a:bodyPr/>
          <a:lstStyle/>
          <a:p>
            <a:r>
              <a:rPr lang="vi-VN"/>
              <a:t>Các mô hình baseline (mô hình đơn, phân loại</a:t>
            </a:r>
            <a:r>
              <a:rPr lang="en-US"/>
              <a:t> </a:t>
            </a:r>
            <a:r>
              <a:rPr lang="vi-VN"/>
              <a:t>103 lớp)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702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E3098-DF18-15FB-7103-3D6F2FD08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80A4B8-8AAC-A44D-EBD4-E6B30E3A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7653A9D-BFBC-9775-2FA3-B82DBB3C6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6" y="78613"/>
            <a:ext cx="8827643" cy="451739"/>
          </a:xfrm>
        </p:spPr>
        <p:txBody>
          <a:bodyPr/>
          <a:lstStyle/>
          <a:p>
            <a:r>
              <a:rPr lang="en-US"/>
              <a:t>Kết quả trên tập kiểm tra (103 lớp, 7.384 ảnh)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B6CAB1-7F1C-801A-1AB5-C17C9363D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829398"/>
              </p:ext>
            </p:extLst>
          </p:nvPr>
        </p:nvGraphicFramePr>
        <p:xfrm>
          <a:off x="152399" y="1473200"/>
          <a:ext cx="8827643" cy="4516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5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273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</a:rPr>
                        <a:t>Mô hình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Phạm vi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Macro-F1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73">
                <a:tc>
                  <a:txBody>
                    <a:bodyPr/>
                    <a:lstStyle/>
                    <a:p>
                      <a:pPr algn="l"/>
                      <a:r>
                        <a:rPr sz="2000" b="0"/>
                        <a:t>Simple CNN (train từ đầu)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Đơn · 103 lớp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76,34%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72,55%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73">
                <a:tc>
                  <a:txBody>
                    <a:bodyPr/>
                    <a:lstStyle/>
                    <a:p>
                      <a:pPr algn="l"/>
                      <a:r>
                        <a:rPr sz="2000" b="0"/>
                        <a:t>EfficientNet-B0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Đơn · 103 lớp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89,25%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88,07%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273">
                <a:tc>
                  <a:txBody>
                    <a:bodyPr/>
                    <a:lstStyle/>
                    <a:p>
                      <a:pPr algn="l"/>
                      <a:r>
                        <a:rPr sz="2000" b="0"/>
                        <a:t>EfficientNet-B2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Đơn · 103 lớp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91,02%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89,81%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273">
                <a:tc>
                  <a:txBody>
                    <a:bodyPr/>
                    <a:lstStyle/>
                    <a:p>
                      <a:pPr algn="l"/>
                      <a:r>
                        <a:rPr sz="2000" b="0"/>
                        <a:t>ConvNeXt-Tiny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Đơn · 103 lớp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92,63%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91,80%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273">
                <a:tc>
                  <a:txBody>
                    <a:bodyPr/>
                    <a:lstStyle/>
                    <a:p>
                      <a:pPr algn="l"/>
                      <a:r>
                        <a:rPr sz="2000" b="0"/>
                        <a:t>2 tầng — B0 phân nhóm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8 nhóm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92,42%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91,24%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273">
                <a:tc>
                  <a:txBody>
                    <a:bodyPr/>
                    <a:lstStyle/>
                    <a:p>
                      <a:pPr algn="l"/>
                      <a:r>
                        <a:rPr sz="2000" b="0"/>
                        <a:t>2 tầng — B2 theo nhóm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Trong từng nhóm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89,9–98,9%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91,4–98,6%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8698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E064C-61F1-2CCE-CB5A-CAAD3431C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A037A1-2778-0A66-B214-11305DB8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6B277-CD38-BA7E-0312-5E018D3BD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61790"/>
            <a:ext cx="7599680" cy="4351338"/>
          </a:xfrm>
        </p:spPr>
        <p:txBody>
          <a:bodyPr/>
          <a:lstStyle/>
          <a:p>
            <a:r>
              <a:rPr lang="vi-VN" sz="2000"/>
              <a:t>Chuyên biệt hóa: mỗi mô hình con B2 chỉ phân biệt ít món tương đồng trong một nhóm</a:t>
            </a:r>
          </a:p>
          <a:p>
            <a:pPr lvl="1"/>
            <a:r>
              <a:rPr lang="vi-VN" sz="1600"/>
              <a:t>→ đạt độ chính xác cao trên bài toán con (89,9%–98,9%)</a:t>
            </a:r>
          </a:p>
          <a:p>
            <a:r>
              <a:rPr lang="vi-VN" sz="2000"/>
              <a:t>Tính mô-đun &amp; khả năng mở rộng:</a:t>
            </a:r>
          </a:p>
          <a:p>
            <a:pPr lvl="1"/>
            <a:r>
              <a:rPr lang="vi-VN" sz="1600"/>
              <a:t>Thêm/sửa một món chỉ cần huấn luyện lại MỘT mô hình con nhỏ, không train lại toàn bộ 103 lớp</a:t>
            </a:r>
          </a:p>
          <a:p>
            <a:pPr lvl="1"/>
            <a:r>
              <a:rPr lang="vi-VN" sz="1600"/>
              <a:t>Trọng số tổ chức rõ ràng theo nhóm; khớp cách gom nhóm của kho công thức</a:t>
            </a:r>
          </a:p>
          <a:p>
            <a:r>
              <a:rPr lang="en-US" sz="2000"/>
              <a:t>Kết luận </a:t>
            </a:r>
            <a:r>
              <a:rPr lang="vi-VN" sz="2000"/>
              <a:t>:</a:t>
            </a:r>
          </a:p>
          <a:p>
            <a:pPr lvl="1"/>
            <a:r>
              <a:rPr lang="vi-VN" sz="1600"/>
              <a:t>Về accuracy phẳng, mô hình đơn mạnh (ConvNeXt-Tiny 92,63%) vẫn cạnh tranh</a:t>
            </a:r>
          </a:p>
          <a:p>
            <a:pPr lvl="1"/>
            <a:r>
              <a:rPr lang="vi-VN" sz="1600"/>
              <a:t>Hai tầng có lỗi lan truyền (nhóm sai → món sai); lợi thế nằm ở chuyên biệt + mô-đun + phù hợp sản phẩm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588E93-B873-2E42-9E9B-2A3DABC9B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6" y="78613"/>
            <a:ext cx="8827643" cy="451739"/>
          </a:xfrm>
        </p:spPr>
        <p:txBody>
          <a:bodyPr/>
          <a:lstStyle/>
          <a:p>
            <a:r>
              <a:rPr lang="en-US"/>
              <a:t>Vì sao chọn kiến trúc hai tầng?</a:t>
            </a:r>
          </a:p>
        </p:txBody>
      </p:sp>
    </p:spTree>
    <p:extLst>
      <p:ext uri="{BB962C8B-B14F-4D97-AF65-F5344CB8AC3E}">
        <p14:creationId xmlns:p14="http://schemas.microsoft.com/office/powerpoint/2010/main" val="59604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BDD5E-B48C-0353-224D-9692A214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C2F3A9-8490-A43A-BB56-DFCF14EFA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95652-542C-CADB-3BD5-99E8236E35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240" y="1442540"/>
            <a:ext cx="3886200" cy="4351338"/>
          </a:xfrm>
        </p:spPr>
        <p:txBody>
          <a:bodyPr/>
          <a:lstStyle/>
          <a:p>
            <a:r>
              <a:rPr lang="vi-VN" sz="2000"/>
              <a:t>Bộ phân loại nhóm: ~92,48%</a:t>
            </a:r>
          </a:p>
          <a:p>
            <a:r>
              <a:rPr lang="vi-VN" sz="2000"/>
              <a:t>Các bộ phân loại món: 89,95% – 98,88%</a:t>
            </a:r>
          </a:p>
          <a:p>
            <a:r>
              <a:rPr lang="vi-VN" sz="2000"/>
              <a:t>Mô hình chuyên biệt: chạy cục bộ, chủ động ràng buộc công thức</a:t>
            </a:r>
          </a:p>
          <a:p>
            <a:r>
              <a:rPr lang="vi-VN" sz="2000"/>
              <a:t>So với API đa năng: phủ rộng nhưng khó ánh xạ công thức, tốn phí/độ trễ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458DF2-DFA6-CC8D-A962-418A7B6981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5811" y="1212406"/>
            <a:ext cx="4728972" cy="520272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85073B0-61EF-D04E-A54A-488B3B5B0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Kết quả: Độ chính xác mô hình nhận diện</a:t>
            </a:r>
          </a:p>
        </p:txBody>
      </p:sp>
    </p:spTree>
    <p:extLst>
      <p:ext uri="{BB962C8B-B14F-4D97-AF65-F5344CB8AC3E}">
        <p14:creationId xmlns:p14="http://schemas.microsoft.com/office/powerpoint/2010/main" val="3125061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CBE44-52F7-E711-0865-689761CC9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10A089-202F-17E4-005F-D87CF509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4B6E9-FC5C-E9F0-E375-291D1F8F8B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53769"/>
            <a:ext cx="3129280" cy="4351338"/>
          </a:xfrm>
        </p:spPr>
        <p:txBody>
          <a:bodyPr/>
          <a:lstStyle/>
          <a:p>
            <a:r>
              <a:rPr lang="vi-VN" sz="2000"/>
              <a:t>Trang chủ, tìm kiếm &amp; lọc công thức</a:t>
            </a:r>
          </a:p>
          <a:p>
            <a:r>
              <a:rPr lang="vi-VN" sz="2000"/>
              <a:t>Chi tiết công thức: nguyên liệu, các bước</a:t>
            </a:r>
          </a:p>
          <a:p>
            <a:r>
              <a:rPr lang="vi-VN" sz="2000"/>
              <a:t>Kho ~47 công thức đại diện (gắn 103 lớp AI)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153912E-F82D-A01B-967B-8F9524DF3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Kết quả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95D943-2557-3C6E-7D7C-3778FFF81D98}"/>
              </a:ext>
            </a:extLst>
          </p:cNvPr>
          <p:cNvSpPr txBox="1"/>
          <p:nvPr/>
        </p:nvSpPr>
        <p:spPr>
          <a:xfrm>
            <a:off x="2473960" y="734203"/>
            <a:ext cx="419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Màn hình chức năng chính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53B50D-0C5A-5167-F894-6ECFDF9B2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193" y="1453769"/>
            <a:ext cx="5943058" cy="298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59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20A9C-640E-FDC5-E874-0D5C9200E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EB9D1F-2986-B3B2-199E-C09837636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828E48C-5C09-E134-DBB9-494E27A34D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4308" y="1113612"/>
            <a:ext cx="4728972" cy="520272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A80BE1D-FE68-44FE-9094-3293AF6D6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Kết quả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898722-AC4B-0CD4-E616-8C3AD04826A4}"/>
              </a:ext>
            </a:extLst>
          </p:cNvPr>
          <p:cNvSpPr txBox="1"/>
          <p:nvPr/>
        </p:nvSpPr>
        <p:spPr>
          <a:xfrm>
            <a:off x="2329688" y="744280"/>
            <a:ext cx="464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Màn hình xem chi tiết công thức nấu ăn</a:t>
            </a:r>
          </a:p>
        </p:txBody>
      </p:sp>
    </p:spTree>
    <p:extLst>
      <p:ext uri="{BB962C8B-B14F-4D97-AF65-F5344CB8AC3E}">
        <p14:creationId xmlns:p14="http://schemas.microsoft.com/office/powerpoint/2010/main" val="2410558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65BFA-9215-4792-7C9A-E312CFDC9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741AA1-1A20-8048-B86A-64014E102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9481C3-9603-D9B9-D3C0-F36C416C9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Kết quả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0D834B-840F-B7EE-89C3-5BC4479C2CEB}"/>
              </a:ext>
            </a:extLst>
          </p:cNvPr>
          <p:cNvSpPr txBox="1"/>
          <p:nvPr/>
        </p:nvSpPr>
        <p:spPr>
          <a:xfrm>
            <a:off x="2329688" y="744280"/>
            <a:ext cx="464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Màn hình thiết lập meal-plan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C8BB03-BD67-7EBD-3171-899D6119A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4181"/>
            <a:ext cx="9144000" cy="423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327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C1044-DF6E-44AE-D4DA-15EE507B1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0FC1EF-4A66-B26F-A7D9-3A843B4E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1726F5-8FAC-EE49-7E60-74ADCE336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Kết quả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2C2CF-69D5-E631-1E52-37D87BE73C4F}"/>
              </a:ext>
            </a:extLst>
          </p:cNvPr>
          <p:cNvSpPr txBox="1"/>
          <p:nvPr/>
        </p:nvSpPr>
        <p:spPr>
          <a:xfrm>
            <a:off x="2329688" y="744280"/>
            <a:ext cx="464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Màn hình quản trị viên hệ thống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567929-D55E-38AC-8B41-2E6D9FDFF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2161"/>
            <a:ext cx="9144000" cy="416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98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4D0B4-79C8-788F-E7C3-F6C2C1E19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A6D77D-DFB6-0FDE-999F-F07EF220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7F9E0-D2C4-066A-2A64-2CB76EEAC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6588" y="1423289"/>
            <a:ext cx="8279892" cy="4351338"/>
          </a:xfrm>
        </p:spPr>
        <p:txBody>
          <a:bodyPr/>
          <a:lstStyle/>
          <a:p>
            <a:r>
              <a:rPr lang="vi-VN" sz="2000"/>
              <a:t>Mở rộng khả năng chịu tải &amp; hiệu năng:</a:t>
            </a:r>
          </a:p>
          <a:p>
            <a:pPr lvl="1"/>
            <a:r>
              <a:rPr lang="vi-VN" sz="2000"/>
              <a:t>Tách suy luận AI ra worker/hàng đợi riêng; GPU + xử lý theo lô</a:t>
            </a:r>
          </a:p>
          <a:p>
            <a:pPr lvl="1"/>
            <a:r>
              <a:rPr lang="vi-VN" sz="2000"/>
              <a:t>Nhiều worker (Gunicorn) sau Nginx; container hóa, mở rộng theo chiều ngang</a:t>
            </a:r>
          </a:p>
          <a:p>
            <a:pPr lvl="1"/>
            <a:r>
              <a:rPr lang="vi-VN" sz="2000"/>
              <a:t>Cache đọc nóng (Redis), CDN ảnh, nâng cấp pool cơ sở dữ liệu</a:t>
            </a:r>
          </a:p>
          <a:p>
            <a:r>
              <a:rPr lang="vi-VN" sz="2000"/>
              <a:t>Phát triển tính năng:</a:t>
            </a:r>
          </a:p>
          <a:p>
            <a:pPr lvl="1"/>
            <a:r>
              <a:rPr lang="vi-VN" sz="2000"/>
              <a:t>Đưa lên cloud; ứng dụng di động tận dụng camera</a:t>
            </a:r>
          </a:p>
          <a:p>
            <a:pPr lvl="1"/>
            <a:r>
              <a:rPr lang="vi-VN" sz="2000"/>
              <a:t>Blog cộng đồng có kiểm duyệt; cá nhân hóa theo nhu cầu dinh dưỡng</a:t>
            </a:r>
          </a:p>
          <a:p>
            <a:pPr lvl="1"/>
            <a:r>
              <a:rPr lang="vi-VN" sz="2000"/>
              <a:t>Thay/kết hợp mô hình nhận diện bằng API đa phương thức (OpenAI/Gemini)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A509D7-C6DE-9DA5-2974-733328A4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</a:t>
            </a:r>
            <a:r>
              <a:rPr lang="vi-VN"/>
              <a:t>Hướng phát triển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80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BB272-13DB-E3E1-5771-9F0975E9C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B94020-CD8C-D9AF-328B-B4770657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766E1-4A10-661B-C9EE-BA5D2AC2E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6588" y="1423289"/>
            <a:ext cx="7345172" cy="4351338"/>
          </a:xfrm>
        </p:spPr>
        <p:txBody>
          <a:bodyPr/>
          <a:lstStyle/>
          <a:p>
            <a:r>
              <a:rPr lang="vi-VN" sz="2000"/>
              <a:t>Đóng góp nổi bật:</a:t>
            </a:r>
          </a:p>
          <a:p>
            <a:pPr lvl="1"/>
            <a:r>
              <a:rPr lang="vi-VN" sz="2000"/>
              <a:t>Quy trình liền mạch: chụp ảnh → công thức → nấu → kế hoạch</a:t>
            </a:r>
          </a:p>
          <a:p>
            <a:pPr lvl="1"/>
            <a:r>
              <a:rPr lang="vi-VN" sz="2000"/>
              <a:t>Ràng buộc nhất quán nhận diện – kho công thức; nhận diện hai tầng</a:t>
            </a:r>
          </a:p>
          <a:p>
            <a:r>
              <a:rPr lang="vi-VN" sz="2000"/>
              <a:t>Hạn chế: mới</a:t>
            </a:r>
            <a:r>
              <a:rPr lang="en-US" sz="2000"/>
              <a:t> chỉ</a:t>
            </a:r>
            <a:r>
              <a:rPr lang="vi-VN" sz="2000"/>
              <a:t> chạy cục bộ; catalog phủ 47/103 lớp (nguồn monngonmoingay)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7B4001E-2840-2901-F036-B9ECA74AF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</a:t>
            </a:r>
            <a:r>
              <a:rPr lang="vi-VN"/>
              <a:t>Kết luận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E207-A869-B342-B6D9-77005A268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994D1-B0B9-97CB-A9B2-4F2D31319A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8968A-F2A2-8005-6E03-B78E65864C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CF161-A6C1-F8C7-C9A5-5CD5BD5C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498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286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D60EA-6653-3AE7-7289-DD8479DAF2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E6E5C-9744-5884-9CF6-BA4CC119CD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5C89-7D1D-5A90-6795-7FC575F1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695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331FF-7367-F4F4-10DC-9F4CB489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942A98-C171-982E-551D-E59FBFEF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5BA0D-33C2-2FFC-BFBC-D1CF38376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574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696</TotalTime>
  <Words>1556</Words>
  <Application>Microsoft Office PowerPoint</Application>
  <PresentationFormat>On-screen Show (4:3)</PresentationFormat>
  <Paragraphs>182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Nội dung trình bày</vt:lpstr>
      <vt:lpstr>1. Mục tiêu đồ án</vt:lpstr>
      <vt:lpstr>2. Phân tích bài toán và giải pháp (1/2)</vt:lpstr>
      <vt:lpstr>2. Phân tích bài toán và giải pháp (2/2)</vt:lpstr>
      <vt:lpstr>3. Thiết kế hệ thống</vt:lpstr>
      <vt:lpstr>Phân tích chức năng — Use case tổng quát</vt:lpstr>
      <vt:lpstr>Thiết kế cơ sở dữ liệu (ERD)</vt:lpstr>
      <vt:lpstr>Thiết kế hoạt động: Nhận diện món ăn</vt:lpstr>
      <vt:lpstr>Thiết kế hoạt động: Đề xuất &amp; duyệt công thức</vt:lpstr>
      <vt:lpstr>Điểm nhấn: Kiến trúc nhận diện hai tầng</vt:lpstr>
      <vt:lpstr>So sánh kiến trúc hai tầng và mô hình đơn</vt:lpstr>
      <vt:lpstr>Cấu hình &amp; cách huấn luyện — Kiến trúc hai tầng</vt:lpstr>
      <vt:lpstr>Các mô hình baseline (mô hình đơn, phân loại 103 lớp)</vt:lpstr>
      <vt:lpstr>Kết quả trên tập kiểm tra (103 lớp, 7.384 ảnh)</vt:lpstr>
      <vt:lpstr>Vì sao chọn kiến trúc hai tầng?</vt:lpstr>
      <vt:lpstr>Kết quả: Độ chính xác mô hình nhận diện</vt:lpstr>
      <vt:lpstr>4. Kết quả</vt:lpstr>
      <vt:lpstr>4. Kết quả</vt:lpstr>
      <vt:lpstr>4. Kết quả</vt:lpstr>
      <vt:lpstr>4. Kết quả</vt:lpstr>
      <vt:lpstr>5. Hướng phát triển</vt:lpstr>
      <vt:lpstr>6. Kết luận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Vu Huu Tien 20225231</cp:lastModifiedBy>
  <cp:revision>17</cp:revision>
  <dcterms:created xsi:type="dcterms:W3CDTF">2021-05-28T04:32:29Z</dcterms:created>
  <dcterms:modified xsi:type="dcterms:W3CDTF">2026-07-08T08:26:27Z</dcterms:modified>
</cp:coreProperties>
</file>