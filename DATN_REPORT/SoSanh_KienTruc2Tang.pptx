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56" r:id="rId8"/>
    <p:sldId id="257" r:id="rId9"/>
    <p:sldId id="258" r:id="rId10"/>
    <p:sldId id="261" r:id="rId13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So sánh kiến trúc hai tầng và mô hình đơn — Thiết lập thực nghiệm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500"/>
              <a:t>Mục tiêu: kiểm chứng lợi ích của cách chia bài toán 103 lớp thành 2 tầng.</a:t>
            </a:r>
          </a:p>
          <a:p>
            <a:pPr/>
            <a:r>
              <a:rPr sz="1500"/>
              <a:t>Dữ liệu: bộ VNFood (train/val/test), tập kiểm tra 7.384 ảnh, 103 lớp / 8 nhóm.</a:t>
            </a:r>
          </a:p>
          <a:p>
            <a:pPr/>
            <a:r>
              <a:rPr sz="1500"/>
              <a:t>Điều kiện huấn luyện GIỐNG NHAU cho mọi mô hình (để so công bằng):</a:t>
            </a:r>
          </a:p>
          <a:p>
            <a:pPr lvl="1"/>
            <a:r>
              <a:rPr sz="1300"/>
              <a:t>AdamW + CosineAnnealingLR; CrossEntropy có label smoothing; AMP; batch 32</a:t>
            </a:r>
          </a:p>
          <a:p>
            <a:pPr lvl="1"/>
            <a:r>
              <a:rPr sz="1300"/>
              <a:t>Fine-tuning 3 pha: head (5 ep, 1e-3) → mở khối trên (10 ep, 1e-4) → toàn mạng (15 ep, 5e-5)</a:t>
            </a:r>
          </a:p>
          <a:p>
            <a:pPr lvl="1"/>
            <a:r>
              <a:rPr sz="1300"/>
              <a:t>Tăng cường ảnh: RandomResizedCrop, HorizontalFlip, ColorJitter; chuẩn hóa ImageNet</a:t>
            </a:r>
          </a:p>
          <a:p>
            <a:pPr lvl="1"/>
            <a:r>
              <a:rPr sz="1300"/>
              <a:t>Trọng số khởi tạo từ ImageNet (trừ CNN tự xây train từ đầu 30 epoch)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Cấu hình &amp; cách huấn luyện — Kiến trúc hai tầng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500"/>
              <a:t>Tầng 1 — Bộ phân loại NHÓM:</a:t>
            </a:r>
          </a:p>
          <a:p>
            <a:pPr lvl="1"/>
            <a:r>
              <a:rPr sz="1300"/>
              <a:t>EfficientNet-B0, ảnh 224×224, đầu ra 8 nhóm món</a:t>
            </a:r>
          </a:p>
          <a:p>
            <a:pPr/>
            <a:r>
              <a:rPr sz="1500"/>
              <a:t>Tầng 2 — 8 bộ phân loại MÓN chuyên biệt (mỗi nhóm một mô hình):</a:t>
            </a:r>
          </a:p>
          <a:p>
            <a:pPr lvl="1"/>
            <a:r>
              <a:rPr sz="1300"/>
              <a:t>EfficientNet-B2, ảnh 260×260, đầu ra là các món trong nhóm đó</a:t>
            </a:r>
          </a:p>
          <a:p>
            <a:pPr/>
            <a:r>
              <a:rPr sz="1500"/>
              <a:t>Huấn luyện: cùng lịch 3 pha ở trên; Early Stopping (patience 5–7)</a:t>
            </a:r>
          </a:p>
          <a:p>
            <a:pPr/>
            <a:r>
              <a:rPr sz="1500"/>
              <a:t>Suy luận: ảnh → Tầng 1 chọn nhóm → định tuyến sang mô hình con của nhóm → món chi tiết</a:t>
            </a:r>
          </a:p>
          <a:p>
            <a:pPr/>
            <a:r>
              <a:rPr sz="1500"/>
              <a:t>Trọng số lưu tách biệt: best_group_effb0.pth + 8 file best_sub_&lt;NHÓM&gt;_effb2.pth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Các mô hình baseline (mô hình đơn, phân loại phẳng 103 lớp)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600"/>
              <a:t>Simple CNN — tự xây, huấn luyện từ đầu (30 epoch): mốc tham chiếu thấp</a:t>
            </a:r>
          </a:p>
          <a:p>
            <a:pPr/>
            <a:r>
              <a:rPr sz="1600"/>
              <a:t>EfficientNet-B0 (224×224) — pretrained ImageNet, cùng lịch 3 pha</a:t>
            </a:r>
          </a:p>
          <a:p>
            <a:pPr/>
            <a:r>
              <a:rPr sz="1600"/>
              <a:t>EfficientNet-B2 (260×260) — pretrained ImageNet, cùng lịch 3 pha</a:t>
            </a:r>
          </a:p>
          <a:p>
            <a:pPr/>
            <a:r>
              <a:rPr sz="1600"/>
              <a:t>ConvNeXt-Tiny — pretrained ImageNet, cùng lịch 3 pha</a:t>
            </a:r>
          </a:p>
          <a:p>
            <a:pPr/>
            <a:r>
              <a:rPr sz="1600"/>
              <a:t>Tất cả đánh giá trên CÙNG tập kiểm tra 7.384 ảnh / 103 lớp.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Kết quả trên tập kiểm tra (103 lớp, 7.384 ảnh)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173736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Mô hình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Phạm vi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Simple CNN (train từ đầu)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Đơn · 103 lớp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76,34%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72,55%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EfficientNet-B0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Đơn · 103 lớp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89,25%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88,07%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EfficientNet-B2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Đơn · 103 lớp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91,02%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89,81%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ConvNeXt-Tiny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Đơn · 103 lớp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92,63%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91,80%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2 tầng — B0 phân 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 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92,42%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91,24%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2 tầng — B2 theo 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Trong từng 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89,9–98,9%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91,4–98,6%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666"/>
                </a:solidFill>
              </a:rPr>
              <a:t>Ghi chú: mô hình đơn đo trực tiếp trên 103 lớp; hai tầng đo theo từng tầng (B0: 8 nhóm; B2: các món trong nhóm).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Vì sao chọn kiến trúc hai tầng?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/>
            <a:r>
              <a:rPr sz="1400"/>
              <a:t>Chuyên biệt hóa: mỗi mô hình con B2 chỉ phân biệt ít món tương đồng trong một nhóm</a:t>
            </a:r>
          </a:p>
          <a:p>
            <a:pPr lvl="1"/>
            <a:r>
              <a:rPr sz="1200"/>
              <a:t>→ đạt độ chính xác cao trên bài toán con (89,9%–98,9%)</a:t>
            </a:r>
          </a:p>
          <a:p>
            <a:pPr/>
            <a:r>
              <a:rPr sz="1400"/>
              <a:t>Tính mô-đun &amp; khả năng mở rộng:</a:t>
            </a:r>
          </a:p>
          <a:p>
            <a:pPr lvl="1"/>
            <a:r>
              <a:rPr sz="1200"/>
              <a:t>Thêm/sửa một món chỉ cần huấn luyện lại MỘT mô hình con nhỏ, không train lại toàn bộ 103 lớp</a:t>
            </a:r>
          </a:p>
          <a:p>
            <a:pPr lvl="1"/>
            <a:r>
              <a:rPr sz="1200"/>
              <a:t>Trọng số tổ chức rõ ràng theo nhóm; khớp cách gom nhóm của kho công thức</a:t>
            </a:r>
          </a:p>
          <a:p>
            <a:pPr/>
            <a:r>
              <a:rPr sz="1400"/>
              <a:t>Nhìn nhận trung thực (đánh đổi):</a:t>
            </a:r>
          </a:p>
          <a:p>
            <a:pPr lvl="1"/>
            <a:r>
              <a:rPr sz="1200"/>
              <a:t>Về accuracy phẳng, mô hình đơn mạnh (ConvNeXt-Tiny 92,63%) vẫn cạnh tranh</a:t>
            </a:r>
          </a:p>
          <a:p>
            <a:pPr lvl="1"/>
            <a:r>
              <a:rPr sz="1200"/>
              <a:t>Hai tầng có lỗi lan truyền (nhóm sai → món sai); lợi thế nằm ở chuyên biệt + mô-đun + phù hợp sản phẩm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Kiến trúc các mô hình so sánh (sơ đồ khối)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Số tham số tăng dần: Simple CNN ~1,6M → EfficientNet-B0 ~5,3M → B2 ~9,1M → ConvNeXt-Tiny ~28M.</a:t>
            </a:r>
          </a:p>
        </p:txBody>
      </p:sp>
      <p:pic>
        <p:nvPicPr>
          <p:cNvPr id="5" name="Picture 4" descr="arch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8595360" cy="5008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25</Words>
  <Application>Microsoft Office PowerPoint</Application>
  <PresentationFormat>Trình chiếu Trên màn hình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12</cp:revision>
  <dcterms:created xsi:type="dcterms:W3CDTF">2021-05-28T04:32:29Z</dcterms:created>
  <dcterms:modified xsi:type="dcterms:W3CDTF">2022-12-12T05:01:43Z</dcterms:modified>
</cp:coreProperties>
</file>