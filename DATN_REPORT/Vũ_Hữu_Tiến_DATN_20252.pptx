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6"/>
  </p:notesMasterIdLst>
  <p:handoutMasterIdLst>
    <p:handoutMasterId r:id="rId27"/>
  </p:handoutMasterIdLst>
  <p:sldIdLst>
    <p:sldId id="257" r:id="rId2"/>
    <p:sldId id="265" r:id="rId3"/>
    <p:sldId id="261" r:id="rId4"/>
    <p:sldId id="266" r:id="rId5"/>
    <p:sldId id="302" r:id="rId6"/>
    <p:sldId id="270" r:id="rId7"/>
    <p:sldId id="278" r:id="rId8"/>
    <p:sldId id="279" r:id="rId9"/>
    <p:sldId id="280" r:id="rId10"/>
    <p:sldId id="281" r:id="rId11"/>
    <p:sldId id="282" r:id="rId12"/>
    <p:sldId id="308" r:id="rId13"/>
    <p:sldId id="309" r:id="rId14"/>
    <p:sldId id="300" r:id="rId15"/>
    <p:sldId id="301" r:id="rId16"/>
    <p:sldId id="286" r:id="rId17"/>
    <p:sldId id="310" r:id="rId18"/>
    <p:sldId id="269" r:id="rId19"/>
    <p:sldId id="305" r:id="rId20"/>
    <p:sldId id="306" r:id="rId21"/>
    <p:sldId id="307" r:id="rId22"/>
    <p:sldId id="293" r:id="rId23"/>
    <p:sldId id="284" r:id="rId24"/>
    <p:sldId id="303"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63" d="100"/>
          <a:sy n="63" d="100"/>
        </p:scale>
        <p:origin x="13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7/15/2026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7/15/2026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15024"/>
            <a:ext cx="8674100" cy="488097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7/15/2026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594078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83" r:id="rId5"/>
    <p:sldLayoutId id="2147483679" r:id="rId6"/>
    <p:sldLayoutId id="2147483680" r:id="rId7"/>
    <p:sldLayoutId id="2147483681" r:id="rId8"/>
    <p:sldLayoutId id="2147483682" r:id="rId9"/>
    <p:sldLayoutId id="2147483684"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331732" y="1354836"/>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a:t>Xây dựng website nhận diện ảnh món ăn</a:t>
            </a:r>
          </a:p>
          <a:p>
            <a:r>
              <a:rPr lang="vi-VN"/>
              <a:t>và tư vấn nấu món ăn</a:t>
            </a:r>
            <a:endParaRPr lang="en-US" dirty="0"/>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331732" y="3805580"/>
            <a:ext cx="8812268"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400" b="0"/>
              <a:t>Sinh viên thực hiện : Vũ Hữu Tiến - 20225231</a:t>
            </a:r>
            <a:endParaRPr lang="en-US" sz="2400" b="0" dirty="0"/>
          </a:p>
          <a:p>
            <a:r>
              <a:rPr lang="en-US" sz="2400" b="0"/>
              <a:t>Giảng viên hướng dẫn: PGS. TS. Nguyễn Thị Hoàng Lan</a:t>
            </a:r>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2</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a:t>Nội dung trình bày</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a:xfrm>
            <a:off x="235076" y="841247"/>
            <a:ext cx="9010523" cy="5303393"/>
          </a:xfrm>
        </p:spPr>
        <p:txBody>
          <a:bodyPr/>
          <a:lstStyle/>
          <a:p>
            <a:pPr marL="514350" indent="-514350">
              <a:buFont typeface="+mj-lt"/>
              <a:buAutoNum type="arabicPeriod"/>
            </a:pPr>
            <a:r>
              <a:rPr lang="vi-VN"/>
              <a:t>Mục tiêu đồ án</a:t>
            </a:r>
          </a:p>
          <a:p>
            <a:pPr marL="514350" indent="-514350">
              <a:buFont typeface="+mj-lt"/>
              <a:buAutoNum type="arabicPeriod"/>
            </a:pPr>
            <a:r>
              <a:rPr lang="vi-VN"/>
              <a:t>Phân tích bài toán và giải pháp</a:t>
            </a:r>
          </a:p>
          <a:p>
            <a:pPr marL="514350" indent="-514350">
              <a:buFont typeface="+mj-lt"/>
              <a:buAutoNum type="arabicPeriod"/>
            </a:pPr>
            <a:r>
              <a:rPr lang="vi-VN"/>
              <a:t>Thiết kế hệ thống</a:t>
            </a:r>
          </a:p>
          <a:p>
            <a:pPr marL="514350" indent="-514350">
              <a:buFont typeface="+mj-lt"/>
              <a:buAutoNum type="arabicPeriod"/>
            </a:pPr>
            <a:r>
              <a:rPr lang="vi-VN"/>
              <a:t>Kết quả thử nghiệm</a:t>
            </a:r>
            <a:endParaRPr lang="en-US"/>
          </a:p>
          <a:p>
            <a:pPr marL="514350" indent="-514350">
              <a:buFont typeface="+mj-lt"/>
              <a:buAutoNum type="arabicPeriod"/>
            </a:pPr>
            <a:r>
              <a:rPr lang="en-US"/>
              <a:t>Kết luận</a:t>
            </a:r>
          </a:p>
          <a:p>
            <a:pPr marL="514350" indent="-514350">
              <a:buFont typeface="+mj-lt"/>
              <a:buAutoNum type="arabicPeriod"/>
            </a:pPr>
            <a:r>
              <a:rPr lang="en-US"/>
              <a:t>Hướng phát triển</a:t>
            </a:r>
            <a:endParaRPr lang="vi-VN"/>
          </a:p>
        </p:txBody>
      </p:sp>
    </p:spTree>
    <p:extLst>
      <p:ext uri="{BB962C8B-B14F-4D97-AF65-F5344CB8AC3E}">
        <p14:creationId xmlns:p14="http://schemas.microsoft.com/office/powerpoint/2010/main" val="292364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3</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r>
              <a:rPr lang="en-US"/>
              <a:t>1. Mục tiêu đồ án</a:t>
            </a:r>
          </a:p>
        </p:txBody>
      </p:sp>
      <p:sp>
        <p:nvSpPr>
          <p:cNvPr id="6" name="TextBox 5">
            <a:extLst>
              <a:ext uri="{FF2B5EF4-FFF2-40B4-BE49-F238E27FC236}">
                <a16:creationId xmlns:a16="http://schemas.microsoft.com/office/drawing/2014/main" id="{F470BE5C-77F2-92EB-9754-0F0EB03A1448}"/>
              </a:ext>
            </a:extLst>
          </p:cNvPr>
          <p:cNvSpPr txBox="1"/>
          <p:nvPr/>
        </p:nvSpPr>
        <p:spPr>
          <a:xfrm>
            <a:off x="254052" y="1442720"/>
            <a:ext cx="7213548" cy="4462760"/>
          </a:xfrm>
          <a:prstGeom prst="rect">
            <a:avLst/>
          </a:prstGeom>
          <a:noFill/>
        </p:spPr>
        <p:txBody>
          <a:bodyPr wrap="square" rtlCol="0">
            <a:spAutoFit/>
          </a:bodyPr>
          <a:lstStyle/>
          <a:p>
            <a:pPr marL="342900" indent="-342900">
              <a:buFont typeface="Arial" panose="020B0604020202020204" pitchFamily="34" charset="0"/>
              <a:buChar char="•"/>
            </a:pPr>
            <a:r>
              <a:rPr lang="vi-VN" sz="2000">
                <a:latin typeface="Lato" panose="020F0502020204030203" pitchFamily="34" charset="0"/>
                <a:ea typeface="Lato" panose="020F0502020204030203" pitchFamily="34" charset="0"/>
                <a:cs typeface="Lato" panose="020F0502020204030203" pitchFamily="34" charset="0"/>
              </a:rPr>
              <a:t>Đặt vấn đề:</a:t>
            </a:r>
          </a:p>
          <a:p>
            <a:pPr marL="742950" lvl="1" indent="-285750">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Sinh viên hoặc người đi làm n</a:t>
            </a:r>
            <a:r>
              <a:rPr lang="vi-VN" sz="2000">
                <a:latin typeface="Lato" panose="020F0502020204030203" pitchFamily="34" charset="0"/>
                <a:ea typeface="Lato" panose="020F0502020204030203" pitchFamily="34" charset="0"/>
                <a:cs typeface="Lato" panose="020F0502020204030203" pitchFamily="34" charset="0"/>
              </a:rPr>
              <a:t>ấu ăn tại nhà tăng, nhưng công thức món Việt rải rác, thiếu chuẩn hóa (định lượng, bước, thời gian, độ khó)</a:t>
            </a:r>
            <a:endParaRPr lang="en-US" sz="2000">
              <a:latin typeface="Lato" panose="020F0502020204030203" pitchFamily="34" charset="0"/>
              <a:ea typeface="Lato" panose="020F0502020204030203" pitchFamily="34" charset="0"/>
              <a:cs typeface="Lato" panose="020F0502020204030203" pitchFamily="34" charset="0"/>
            </a:endParaRPr>
          </a:p>
          <a:p>
            <a:pPr marL="742950" lvl="1" indent="-285750">
              <a:buFont typeface="Arial" panose="020B0604020202020204" pitchFamily="34" charset="0"/>
              <a:buChar char="•"/>
            </a:pPr>
            <a:r>
              <a:rPr lang="vi-VN" sz="2000">
                <a:latin typeface="Lato" panose="020F0502020204030203" pitchFamily="34" charset="0"/>
                <a:ea typeface="Lato" panose="020F0502020204030203" pitchFamily="34" charset="0"/>
                <a:cs typeface="Lato" panose="020F0502020204030203" pitchFamily="34" charset="0"/>
              </a:rPr>
              <a:t>Khó lọc theo vùng miền / loại món / khẩu phần; khó lưu lại để dùng sau</a:t>
            </a:r>
            <a:endParaRPr lang="en-US" sz="2000">
              <a:latin typeface="Lato" panose="020F0502020204030203" pitchFamily="34" charset="0"/>
              <a:ea typeface="Lato" panose="020F0502020204030203" pitchFamily="34" charset="0"/>
              <a:cs typeface="Lato" panose="020F0502020204030203" pitchFamily="34" charset="0"/>
            </a:endParaRPr>
          </a:p>
          <a:p>
            <a:pPr marL="742950" lvl="1" indent="-285750">
              <a:buFont typeface="Arial" panose="020B0604020202020204" pitchFamily="34" charset="0"/>
              <a:buChar char="•"/>
            </a:pPr>
            <a:r>
              <a:rPr lang="en-US">
                <a:latin typeface="Lato" panose="020F0502020204030203" pitchFamily="34" charset="0"/>
                <a:ea typeface="Lato" panose="020F0502020204030203" pitchFamily="34" charset="0"/>
                <a:cs typeface="Lato" panose="020F0502020204030203" pitchFamily="34" charset="0"/>
              </a:rPr>
              <a:t>Gặp món ngoài đời không biết tên → tìm theo từ khóa không xử lý được</a:t>
            </a:r>
          </a:p>
          <a:p>
            <a:pPr marL="742950" lvl="1" indent="-285750">
              <a:buFont typeface="Arial" panose="020B0604020202020204" pitchFamily="34" charset="0"/>
              <a:buChar char="•"/>
            </a:pPr>
            <a:r>
              <a:rPr lang="en-US">
                <a:latin typeface="Lato" panose="020F0502020204030203" pitchFamily="34" charset="0"/>
                <a:ea typeface="Lato" panose="020F0502020204030203" pitchFamily="34" charset="0"/>
                <a:cs typeface="Lato" panose="020F0502020204030203" pitchFamily="34" charset="0"/>
              </a:rPr>
              <a:t>Nội dung đóng góp tự do, thiếu cơ chế kiểm soát chất lượng</a:t>
            </a:r>
            <a:endParaRPr lang="en-US" sz="2000">
              <a:latin typeface="Lato" panose="020F0502020204030203" pitchFamily="34" charset="0"/>
              <a:ea typeface="Lato" panose="020F0502020204030203" pitchFamily="34" charset="0"/>
              <a:cs typeface="Lato" panose="020F0502020204030203" pitchFamily="34" charset="0"/>
            </a:endParaRPr>
          </a:p>
          <a:p>
            <a:pPr marL="285750" indent="-285750">
              <a:buFont typeface="Arial" panose="020B0604020202020204" pitchFamily="34" charset="0"/>
              <a:buChar char="•"/>
            </a:pPr>
            <a:r>
              <a:rPr lang="vi-VN" sz="2000">
                <a:latin typeface="Lato" panose="020F0502020204030203" pitchFamily="34" charset="0"/>
                <a:ea typeface="Lato" panose="020F0502020204030203" pitchFamily="34" charset="0"/>
                <a:cs typeface="Lato" panose="020F0502020204030203" pitchFamily="34" charset="0"/>
              </a:rPr>
              <a:t>Mục tiêu:</a:t>
            </a:r>
          </a:p>
          <a:p>
            <a:pPr marL="742950" lvl="1" indent="-285750">
              <a:buFont typeface="Arial" panose="020B0604020202020204" pitchFamily="34" charset="0"/>
              <a:buChar char="•"/>
            </a:pPr>
            <a:r>
              <a:rPr lang="en-US">
                <a:latin typeface="Lato" panose="020F0502020204030203" pitchFamily="34" charset="0"/>
                <a:ea typeface="Lato" panose="020F0502020204030203" pitchFamily="34" charset="0"/>
                <a:cs typeface="Lato" panose="020F0502020204030203" pitchFamily="34" charset="0"/>
              </a:rPr>
              <a:t>Hệ thống web tập trung quản lý &amp; chia sẻ công thức món Việt đã chuẩn hóa</a:t>
            </a:r>
          </a:p>
          <a:p>
            <a:pPr marL="742950" lvl="1" indent="-285750">
              <a:buFont typeface="Arial" panose="020B0604020202020204" pitchFamily="34" charset="0"/>
              <a:buChar char="•"/>
            </a:pPr>
            <a:r>
              <a:rPr lang="en-US">
                <a:latin typeface="Lato" panose="020F0502020204030203" pitchFamily="34" charset="0"/>
                <a:ea typeface="Lato" panose="020F0502020204030203" pitchFamily="34" charset="0"/>
                <a:cs typeface="Lato" panose="020F0502020204030203" pitchFamily="34" charset="0"/>
              </a:rPr>
              <a:t>Nhận diện món ăn từ ảnh, gắn kết quả về kho công thức</a:t>
            </a:r>
          </a:p>
          <a:p>
            <a:pPr marL="742950" lvl="1" indent="-285750">
              <a:buFont typeface="Arial" panose="020B0604020202020204" pitchFamily="34" charset="0"/>
              <a:buChar char="•"/>
            </a:pPr>
            <a:r>
              <a:rPr lang="en-US">
                <a:latin typeface="Lato" panose="020F0502020204030203" pitchFamily="34" charset="0"/>
                <a:ea typeface="Lato" panose="020F0502020204030203" pitchFamily="34" charset="0"/>
                <a:cs typeface="Lato" panose="020F0502020204030203" pitchFamily="34" charset="0"/>
              </a:rPr>
              <a:t>Trải nghiệm liền mạch: phát hiện món → tra công thức → nấu</a:t>
            </a:r>
          </a:p>
          <a:p>
            <a:endParaRPr lang="en-US">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64084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en-US"/>
              <a:t>2. Phân tích bài toán và giải pháp (1/2)</a:t>
            </a:r>
          </a:p>
        </p:txBody>
      </p:sp>
      <p:sp>
        <p:nvSpPr>
          <p:cNvPr id="4" name="Text Placeholder 3">
            <a:extLst>
              <a:ext uri="{FF2B5EF4-FFF2-40B4-BE49-F238E27FC236}">
                <a16:creationId xmlns:a16="http://schemas.microsoft.com/office/drawing/2014/main" id="{BC311219-8684-45FC-A126-E067924AC7F7}"/>
              </a:ext>
            </a:extLst>
          </p:cNvPr>
          <p:cNvSpPr>
            <a:spLocks noGrp="1"/>
          </p:cNvSpPr>
          <p:nvPr>
            <p:ph type="body" sz="quarter" idx="13"/>
          </p:nvPr>
        </p:nvSpPr>
        <p:spPr/>
        <p:txBody>
          <a:bodyPr/>
          <a:lstStyle/>
          <a:p>
            <a:r>
              <a:rPr lang="vi-VN" sz="2400"/>
              <a:t>Bài toán 1 — Chuẩn hóa &amp; tổ chức kho công thức</a:t>
            </a:r>
          </a:p>
          <a:p>
            <a:pPr lvl="1"/>
            <a:r>
              <a:rPr lang="vi-VN" sz="2000" i="1"/>
              <a:t>Giải pháp</a:t>
            </a:r>
            <a:r>
              <a:rPr lang="vi-VN" sz="2000"/>
              <a:t>: cào dữ liệu từ monngonmoingay.com, chuẩn hóa nguyên liệu/bước/thời gian/độ khó về một lược đồ thống nhất</a:t>
            </a:r>
            <a:endParaRPr lang="en-US" sz="2000"/>
          </a:p>
          <a:p>
            <a:pPr lvl="1"/>
            <a:r>
              <a:rPr lang="vi-VN" sz="2000"/>
              <a:t>Gom theo định danh món, tuyển một tập công thức tiêu biểu làm tham chiếu cho mỗi lớp</a:t>
            </a:r>
            <a:endParaRPr lang="en-US" sz="2000"/>
          </a:p>
          <a:p>
            <a:r>
              <a:rPr lang="vi-VN" sz="2400"/>
              <a:t>Bài toán 2 — Nhận diện &gt;100 món Việt, nhiều lớp tương đồng</a:t>
            </a:r>
          </a:p>
          <a:p>
            <a:pPr lvl="1"/>
            <a:r>
              <a:rPr lang="vi-VN" sz="2000"/>
              <a:t>Giải pháp: CNN EfficientNet phân cấp hai tầng (coarse-to-fine)</a:t>
            </a:r>
          </a:p>
          <a:p>
            <a:pPr lvl="1"/>
            <a:r>
              <a:rPr lang="vi-VN" sz="2000"/>
              <a:t>Tầng 1 phân nhóm món → Tầng 2 mô hình chuyên biệt của nhóm xác định món cụ thể</a:t>
            </a:r>
            <a:endParaRPr lang="en-US" sz="2000"/>
          </a:p>
          <a:p>
            <a:r>
              <a:rPr lang="vi-VN" sz="2400"/>
              <a:t>Bài toán </a:t>
            </a:r>
            <a:r>
              <a:rPr lang="en-US" sz="2400"/>
              <a:t>3</a:t>
            </a:r>
            <a:r>
              <a:rPr lang="vi-VN" sz="2400"/>
              <a:t> — Đóng góp nội dung có kiểm soát</a:t>
            </a:r>
          </a:p>
          <a:p>
            <a:pPr lvl="1"/>
            <a:r>
              <a:rPr lang="vi-VN" sz="2000"/>
              <a:t>Giải pháp: quy trình đề xuất → duyệt thống nhất cho tạo/sửa/xóa qua quản trị viên</a:t>
            </a:r>
            <a:endParaRPr lang="en-US" sz="2000"/>
          </a:p>
        </p:txBody>
      </p:sp>
    </p:spTree>
    <p:extLst>
      <p:ext uri="{BB962C8B-B14F-4D97-AF65-F5344CB8AC3E}">
        <p14:creationId xmlns:p14="http://schemas.microsoft.com/office/powerpoint/2010/main" val="2751358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t>2. Phân tích bài toán và giải pháp</a:t>
            </a:r>
          </a:p>
        </p:txBody>
      </p:sp>
      <p:sp>
        <p:nvSpPr>
          <p:cNvPr id="2" name="Slide Number Placeholder 1">
            <a:extLst>
              <a:ext uri="{FF2B5EF4-FFF2-40B4-BE49-F238E27FC236}">
                <a16:creationId xmlns:a16="http://schemas.microsoft.com/office/drawing/2014/main" id="{6B0FC1EF-4A66-B26F-A7D9-3A843B4E4A30}"/>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extBox 3">
            <a:extLst>
              <a:ext uri="{FF2B5EF4-FFF2-40B4-BE49-F238E27FC236}">
                <a16:creationId xmlns:a16="http://schemas.microsoft.com/office/drawing/2014/main" id="{5702C2CF-69D5-E631-1E52-37D87BE73C4F}"/>
              </a:ext>
            </a:extLst>
          </p:cNvPr>
          <p:cNvSpPr txBox="1"/>
          <p:nvPr/>
        </p:nvSpPr>
        <p:spPr>
          <a:xfrm>
            <a:off x="2329688" y="744280"/>
            <a:ext cx="4643120" cy="369332"/>
          </a:xfrm>
          <a:prstGeom prst="rect">
            <a:avLst/>
          </a:prstGeom>
          <a:noFill/>
        </p:spPr>
        <p:txBody>
          <a:bodyPr wrap="square" rtlCol="0">
            <a:spAutoFit/>
          </a:bodyPr>
          <a:lstStyle/>
          <a:p>
            <a:pPr algn="ctr"/>
            <a:r>
              <a:rPr lang="en-US" b="1">
                <a:solidFill>
                  <a:schemeClr val="bg1"/>
                </a:solidFill>
                <a:latin typeface="Lato" panose="020F0502020204030203" pitchFamily="34" charset="0"/>
                <a:ea typeface="Lato" panose="020F0502020204030203" pitchFamily="34" charset="0"/>
                <a:cs typeface="Lato" panose="020F0502020204030203" pitchFamily="34" charset="0"/>
              </a:rPr>
              <a:t>Ưu điểm so với thị trường</a:t>
            </a:r>
          </a:p>
        </p:txBody>
      </p:sp>
      <p:graphicFrame>
        <p:nvGraphicFramePr>
          <p:cNvPr id="5" name="Table 4"/>
          <p:cNvGraphicFramePr>
            <a:graphicFrameLocks noGrp="1"/>
          </p:cNvGraphicFramePr>
          <p:nvPr>
            <p:extLst>
              <p:ext uri="{D42A27DB-BD31-4B8C-83A1-F6EECF244321}">
                <p14:modId xmlns:p14="http://schemas.microsoft.com/office/powerpoint/2010/main" val="2414441397"/>
              </p:ext>
            </p:extLst>
          </p:nvPr>
        </p:nvGraphicFramePr>
        <p:xfrm>
          <a:off x="365760" y="1463040"/>
          <a:ext cx="8412480" cy="28194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685800">
                <a:tc>
                  <a:txBody>
                    <a:bodyPr/>
                    <a:lstStyle/>
                    <a:p>
                      <a:r>
                        <a:rPr sz="2000" b="1">
                          <a:solidFill>
                            <a:srgbClr val="FFFFFF"/>
                          </a:solidFill>
                          <a:latin typeface="Lato" panose="020F0502020204030203" pitchFamily="34" charset="0"/>
                          <a:ea typeface="Lato" panose="020F0502020204030203" pitchFamily="34" charset="0"/>
                          <a:cs typeface="Lato" panose="020F0502020204030203" pitchFamily="34" charset="0"/>
                        </a:rPr>
                        <a:t>Nhóm sản phẩm</a:t>
                      </a:r>
                    </a:p>
                  </a:txBody>
                  <a:tcPr anchor="ctr">
                    <a:solidFill>
                      <a:srgbClr val="4472C4"/>
                    </a:solidFill>
                  </a:tcPr>
                </a:tc>
                <a:tc>
                  <a:txBody>
                    <a:bodyPr/>
                    <a:lstStyle/>
                    <a:p>
                      <a:r>
                        <a:rPr sz="2000" b="1">
                          <a:solidFill>
                            <a:srgbClr val="FFFFFF"/>
                          </a:solidFill>
                          <a:latin typeface="Lato" panose="020F0502020204030203" pitchFamily="34" charset="0"/>
                          <a:ea typeface="Lato" panose="020F0502020204030203" pitchFamily="34" charset="0"/>
                          <a:cs typeface="Lato" panose="020F0502020204030203" pitchFamily="34" charset="0"/>
                        </a:rPr>
                        <a:t>Đại diện</a:t>
                      </a:r>
                    </a:p>
                  </a:txBody>
                  <a:tcPr anchor="ctr">
                    <a:solidFill>
                      <a:srgbClr val="4472C4"/>
                    </a:solidFill>
                  </a:tcPr>
                </a:tc>
                <a:tc>
                  <a:txBody>
                    <a:bodyPr/>
                    <a:lstStyle/>
                    <a:p>
                      <a:r>
                        <a:rPr sz="2000" b="1">
                          <a:solidFill>
                            <a:srgbClr val="FFFFFF"/>
                          </a:solidFill>
                          <a:latin typeface="Lato" panose="020F0502020204030203" pitchFamily="34" charset="0"/>
                          <a:ea typeface="Lato" panose="020F0502020204030203" pitchFamily="34" charset="0"/>
                          <a:cs typeface="Lato" panose="020F0502020204030203" pitchFamily="34" charset="0"/>
                        </a:rPr>
                        <a:t>Điểm họ còn THIẾU</a:t>
                      </a:r>
                    </a:p>
                  </a:txBody>
                  <a:tcPr anchor="ctr">
                    <a:solidFill>
                      <a:srgbClr val="4472C4"/>
                    </a:solidFill>
                  </a:tcPr>
                </a:tc>
                <a:extLst>
                  <a:ext uri="{0D108BD9-81ED-4DB2-BD59-A6C34878D82A}">
                    <a16:rowId xmlns:a16="http://schemas.microsoft.com/office/drawing/2014/main" val="10000"/>
                  </a:ext>
                </a:extLst>
              </a:tr>
              <a:tr h="685800">
                <a:tc>
                  <a:txBody>
                    <a:bodyPr/>
                    <a:lstStyle/>
                    <a:p>
                      <a:r>
                        <a:rPr sz="2000" b="1">
                          <a:solidFill>
                            <a:srgbClr val="4472C4"/>
                          </a:solidFill>
                          <a:latin typeface="Lato" panose="020F0502020204030203" pitchFamily="34" charset="0"/>
                          <a:ea typeface="Lato" panose="020F0502020204030203" pitchFamily="34" charset="0"/>
                          <a:cs typeface="Lato" panose="020F0502020204030203" pitchFamily="34" charset="0"/>
                        </a:rPr>
                        <a:t>App công thức Việt</a:t>
                      </a:r>
                    </a:p>
                  </a:txBody>
                  <a:tcPr marT="50800" marB="50800" anchor="ctr">
                    <a:solidFill>
                      <a:srgbClr val="FFFFFF"/>
                    </a:solidFill>
                  </a:tcPr>
                </a:tc>
                <a:tc>
                  <a:txBody>
                    <a:bodyPr/>
                    <a:lstStyle/>
                    <a:p>
                      <a:r>
                        <a:rPr sz="2000" b="0">
                          <a:solidFill>
                            <a:srgbClr val="44546A"/>
                          </a:solidFill>
                          <a:latin typeface="Lato" panose="020F0502020204030203" pitchFamily="34" charset="0"/>
                          <a:ea typeface="Lato" panose="020F0502020204030203" pitchFamily="34" charset="0"/>
                          <a:cs typeface="Lato" panose="020F0502020204030203" pitchFamily="34" charset="0"/>
                        </a:rPr>
                        <a:t>Cooky, Feedy, MNMN</a:t>
                      </a:r>
                    </a:p>
                  </a:txBody>
                  <a:tcPr marT="50800" marB="50800" anchor="ctr">
                    <a:solidFill>
                      <a:srgbClr val="FFFFFF"/>
                    </a:solidFill>
                  </a:tcPr>
                </a:tc>
                <a:tc>
                  <a:txBody>
                    <a:bodyPr/>
                    <a:lstStyle/>
                    <a:p>
                      <a:r>
                        <a:rPr sz="2000" b="0">
                          <a:solidFill>
                            <a:srgbClr val="44546A"/>
                          </a:solidFill>
                          <a:latin typeface="Lato" panose="020F0502020204030203" pitchFamily="34" charset="0"/>
                          <a:ea typeface="Lato" panose="020F0502020204030203" pitchFamily="34" charset="0"/>
                          <a:cs typeface="Lato" panose="020F0502020204030203" pitchFamily="34" charset="0"/>
                        </a:rPr>
                        <a:t>Không AI nhận diện ảnh; không trục canonical</a:t>
                      </a:r>
                    </a:p>
                  </a:txBody>
                  <a:tcPr marT="50800" marB="50800" anchor="ctr">
                    <a:solidFill>
                      <a:srgbClr val="FFFFFF"/>
                    </a:solidFill>
                  </a:tcPr>
                </a:tc>
                <a:extLst>
                  <a:ext uri="{0D108BD9-81ED-4DB2-BD59-A6C34878D82A}">
                    <a16:rowId xmlns:a16="http://schemas.microsoft.com/office/drawing/2014/main" val="10001"/>
                  </a:ext>
                </a:extLst>
              </a:tr>
              <a:tr h="685800">
                <a:tc>
                  <a:txBody>
                    <a:bodyPr/>
                    <a:lstStyle/>
                    <a:p>
                      <a:r>
                        <a:rPr sz="2000" b="1">
                          <a:solidFill>
                            <a:srgbClr val="4472C4"/>
                          </a:solidFill>
                          <a:latin typeface="Lato" panose="020F0502020204030203" pitchFamily="34" charset="0"/>
                          <a:ea typeface="Lato" panose="020F0502020204030203" pitchFamily="34" charset="0"/>
                          <a:cs typeface="Lato" panose="020F0502020204030203" pitchFamily="34" charset="0"/>
                        </a:rPr>
                        <a:t>App AI nhận diện</a:t>
                      </a:r>
                    </a:p>
                  </a:txBody>
                  <a:tcPr marT="50800" marB="50800" anchor="ctr">
                    <a:solidFill>
                      <a:srgbClr val="FFFFFF"/>
                    </a:solidFill>
                  </a:tcPr>
                </a:tc>
                <a:tc>
                  <a:txBody>
                    <a:bodyPr/>
                    <a:lstStyle/>
                    <a:p>
                      <a:r>
                        <a:rPr sz="2000" b="0">
                          <a:solidFill>
                            <a:srgbClr val="44546A"/>
                          </a:solidFill>
                          <a:latin typeface="Lato" panose="020F0502020204030203" pitchFamily="34" charset="0"/>
                          <a:ea typeface="Lato" panose="020F0502020204030203" pitchFamily="34" charset="0"/>
                          <a:cs typeface="Lato" panose="020F0502020204030203" pitchFamily="34" charset="0"/>
                        </a:rPr>
                        <a:t>SnapCalorie, Foodvisor</a:t>
                      </a:r>
                    </a:p>
                  </a:txBody>
                  <a:tcPr marT="50800" marB="50800" anchor="ctr">
                    <a:solidFill>
                      <a:srgbClr val="FFFFFF"/>
                    </a:solidFill>
                  </a:tcPr>
                </a:tc>
                <a:tc>
                  <a:txBody>
                    <a:bodyPr/>
                    <a:lstStyle/>
                    <a:p>
                      <a:r>
                        <a:rPr sz="2000" b="0">
                          <a:solidFill>
                            <a:srgbClr val="44546A"/>
                          </a:solidFill>
                          <a:latin typeface="Lato" panose="020F0502020204030203" pitchFamily="34" charset="0"/>
                          <a:ea typeface="Lato" panose="020F0502020204030203" pitchFamily="34" charset="0"/>
                          <a:cs typeface="Lato" panose="020F0502020204030203" pitchFamily="34" charset="0"/>
                        </a:rPr>
                        <a:t>Chỉ đếm calo, không ra công thức; yếu món Việt</a:t>
                      </a:r>
                    </a:p>
                  </a:txBody>
                  <a:tcPr marT="50800" marB="50800" anchor="ctr">
                    <a:solidFill>
                      <a:srgbClr val="FFFFFF"/>
                    </a:solidFill>
                  </a:tcPr>
                </a:tc>
                <a:extLst>
                  <a:ext uri="{0D108BD9-81ED-4DB2-BD59-A6C34878D82A}">
                    <a16:rowId xmlns:a16="http://schemas.microsoft.com/office/drawing/2014/main" val="10002"/>
                  </a:ext>
                </a:extLst>
              </a:tr>
              <a:tr h="685800">
                <a:tc>
                  <a:txBody>
                    <a:bodyPr/>
                    <a:lstStyle/>
                    <a:p>
                      <a:r>
                        <a:rPr sz="2000" b="1">
                          <a:solidFill>
                            <a:srgbClr val="4472C4"/>
                          </a:solidFill>
                          <a:latin typeface="Lato" panose="020F0502020204030203" pitchFamily="34" charset="0"/>
                          <a:ea typeface="Lato" panose="020F0502020204030203" pitchFamily="34" charset="0"/>
                          <a:cs typeface="Lato" panose="020F0502020204030203" pitchFamily="34" charset="0"/>
                        </a:rPr>
                        <a:t>Meal-plan &amp; đi chợ</a:t>
                      </a:r>
                    </a:p>
                  </a:txBody>
                  <a:tcPr marT="50800" marB="50800" anchor="ctr">
                    <a:solidFill>
                      <a:srgbClr val="FFFFFF"/>
                    </a:solidFill>
                  </a:tcPr>
                </a:tc>
                <a:tc>
                  <a:txBody>
                    <a:bodyPr/>
                    <a:lstStyle/>
                    <a:p>
                      <a:r>
                        <a:rPr sz="2000" b="0">
                          <a:solidFill>
                            <a:srgbClr val="44546A"/>
                          </a:solidFill>
                          <a:latin typeface="Lato" panose="020F0502020204030203" pitchFamily="34" charset="0"/>
                          <a:ea typeface="Lato" panose="020F0502020204030203" pitchFamily="34" charset="0"/>
                          <a:cs typeface="Lato" panose="020F0502020204030203" pitchFamily="34" charset="0"/>
                        </a:rPr>
                        <a:t>Samsung Food, Mealime</a:t>
                      </a:r>
                    </a:p>
                  </a:txBody>
                  <a:tcPr marT="50800" marB="50800" anchor="ctr">
                    <a:solidFill>
                      <a:srgbClr val="FFFFFF"/>
                    </a:solidFill>
                  </a:tcPr>
                </a:tc>
                <a:tc>
                  <a:txBody>
                    <a:bodyPr/>
                    <a:lstStyle/>
                    <a:p>
                      <a:r>
                        <a:rPr lang="en-US" sz="2000" b="0">
                          <a:solidFill>
                            <a:srgbClr val="44546A"/>
                          </a:solidFill>
                          <a:latin typeface="Lato" panose="020F0502020204030203" pitchFamily="34" charset="0"/>
                          <a:ea typeface="Lato" panose="020F0502020204030203" pitchFamily="34" charset="0"/>
                          <a:cs typeface="Lato" panose="020F0502020204030203" pitchFamily="34" charset="0"/>
                        </a:rPr>
                        <a:t>Nghiên về</a:t>
                      </a:r>
                      <a:r>
                        <a:rPr sz="2000" b="0">
                          <a:solidFill>
                            <a:srgbClr val="44546A"/>
                          </a:solidFill>
                          <a:latin typeface="Lato" panose="020F0502020204030203" pitchFamily="34" charset="0"/>
                          <a:ea typeface="Lato" panose="020F0502020204030203" pitchFamily="34" charset="0"/>
                          <a:cs typeface="Lato" panose="020F0502020204030203" pitchFamily="34" charset="0"/>
                        </a:rPr>
                        <a:t> món Tây; không AI</a:t>
                      </a:r>
                      <a:r>
                        <a:rPr lang="en-US" sz="2000" b="0">
                          <a:solidFill>
                            <a:srgbClr val="44546A"/>
                          </a:solidFill>
                          <a:latin typeface="Lato" panose="020F0502020204030203" pitchFamily="34" charset="0"/>
                          <a:ea typeface="Lato" panose="020F0502020204030203" pitchFamily="34" charset="0"/>
                          <a:cs typeface="Lato" panose="020F0502020204030203" pitchFamily="34" charset="0"/>
                        </a:rPr>
                        <a:t> nhận diện</a:t>
                      </a:r>
                      <a:r>
                        <a:rPr sz="2000" b="0">
                          <a:solidFill>
                            <a:srgbClr val="44546A"/>
                          </a:solidFill>
                          <a:latin typeface="Lato" panose="020F0502020204030203" pitchFamily="34" charset="0"/>
                          <a:ea typeface="Lato" panose="020F0502020204030203" pitchFamily="34" charset="0"/>
                          <a:cs typeface="Lato" panose="020F0502020204030203" pitchFamily="34" charset="0"/>
                        </a:rPr>
                        <a:t> ảnh</a:t>
                      </a:r>
                    </a:p>
                  </a:txBody>
                  <a:tcPr marT="50800" marB="50800" anchor="ct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365760" y="4572000"/>
            <a:ext cx="8412480" cy="1051560"/>
          </a:xfrm>
          <a:prstGeom prst="roundRect">
            <a:avLst/>
          </a:prstGeom>
          <a:solidFill>
            <a:srgbClr val="E9EFFA"/>
          </a:solidFill>
          <a:ln w="1270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52400" rIns="152400" rtlCol="0" anchor="ctr"/>
          <a:lstStyle/>
          <a:p>
            <a:pPr algn="ctr"/>
            <a:r>
              <a:rPr sz="1600" b="1">
                <a:solidFill>
                  <a:srgbClr val="4472C4"/>
                </a:solidFill>
                <a:latin typeface="Lato" panose="020F0502020204030203" pitchFamily="34" charset="0"/>
                <a:ea typeface="Lato" panose="020F0502020204030203" pitchFamily="34" charset="0"/>
                <a:cs typeface="Lato" panose="020F0502020204030203" pitchFamily="34" charset="0"/>
              </a:rPr>
              <a:t>Chỉ TastyVietnam ở giao điểm 3 trục: </a:t>
            </a:r>
            <a:r>
              <a:rPr sz="1600">
                <a:solidFill>
                  <a:srgbClr val="44546A"/>
                </a:solidFill>
                <a:latin typeface="Lato" panose="020F0502020204030203" pitchFamily="34" charset="0"/>
                <a:ea typeface="Lato" panose="020F0502020204030203" pitchFamily="34" charset="0"/>
                <a:cs typeface="Lato" panose="020F0502020204030203" pitchFamily="34" charset="0"/>
              </a:rPr>
              <a:t>AI món Việt 103 lớp → công thức chuẩn · meal-plan + đi chợ · cộng đồng kiểm duyệt — tất cả tiếng Việt &amp; miễn phí.</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Content Placeholder 2">
            <a:extLst>
              <a:ext uri="{FF2B5EF4-FFF2-40B4-BE49-F238E27FC236}">
                <a16:creationId xmlns:a16="http://schemas.microsoft.com/office/drawing/2014/main" id="{A39BBC82-5CC8-86B3-6CF8-6714E6B82E38}"/>
              </a:ext>
            </a:extLst>
          </p:cNvPr>
          <p:cNvSpPr>
            <a:spLocks noGrp="1"/>
          </p:cNvSpPr>
          <p:nvPr>
            <p:ph sz="half" idx="1"/>
          </p:nvPr>
        </p:nvSpPr>
        <p:spPr>
          <a:xfrm>
            <a:off x="386588" y="1423289"/>
            <a:ext cx="4185412" cy="4351338"/>
          </a:xfrm>
        </p:spPr>
        <p:txBody>
          <a:bodyPr/>
          <a:lstStyle/>
          <a:p>
            <a:r>
              <a:rPr lang="en-US" sz="2000"/>
              <a:t>Kiến trúc tách tầng (managed, scale ngang):</a:t>
            </a:r>
          </a:p>
          <a:p>
            <a:pPr lvl="1"/>
            <a:r>
              <a:rPr lang="en-US" sz="1600"/>
              <a:t>Frontend: Next.js trên Vercel (CDN edge)</a:t>
            </a:r>
          </a:p>
          <a:p>
            <a:pPr lvl="1"/>
            <a:r>
              <a:rPr lang="en-US" sz="1600"/>
              <a:t>Backend: FastAPI trên Render — stateless, autoscale</a:t>
            </a:r>
          </a:p>
          <a:p>
            <a:pPr lvl="1"/>
            <a:r>
              <a:rPr lang="en-US" sz="1600"/>
              <a:t>AI: EfficientNet tách riêng trên Hugging Face (gọi qua HTTP)</a:t>
            </a:r>
          </a:p>
          <a:p>
            <a:pPr lvl="1"/>
            <a:r>
              <a:rPr lang="en-US" sz="1600"/>
              <a:t>Dữ liệu: Supabase (PostgreSQL + Object Storage), Upstash Redis</a:t>
            </a:r>
          </a:p>
          <a:p>
            <a:r>
              <a:rPr lang="en-US" sz="2000"/>
              <a:t>Giao tiếp REST/JSON, xác thực JWT (stateless) → scale ngang sau load balancer</a:t>
            </a:r>
            <a:endParaRPr lang="en-US"/>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a:t>3. Thiết kế hệ thống</a:t>
            </a:r>
          </a:p>
        </p:txBody>
      </p:sp>
      <p:sp>
        <p:nvSpPr>
          <p:cNvPr id="4" name="TextBox 3">
            <a:extLst>
              <a:ext uri="{FF2B5EF4-FFF2-40B4-BE49-F238E27FC236}">
                <a16:creationId xmlns:a16="http://schemas.microsoft.com/office/drawing/2014/main" id="{F86B0406-C280-A223-0C9D-8640D7368B1D}"/>
              </a:ext>
            </a:extLst>
          </p:cNvPr>
          <p:cNvSpPr txBox="1"/>
          <p:nvPr/>
        </p:nvSpPr>
        <p:spPr>
          <a:xfrm>
            <a:off x="2549383" y="703051"/>
            <a:ext cx="4318000" cy="461665"/>
          </a:xfrm>
          <a:prstGeom prst="rect">
            <a:avLst/>
          </a:prstGeom>
          <a:noFill/>
        </p:spPr>
        <p:txBody>
          <a:bodyPr wrap="square" rtlCol="0">
            <a:spAutoFit/>
          </a:bodyPr>
          <a:lstStyle/>
          <a:p>
            <a:r>
              <a:rPr lang="en-US" sz="2400" b="1">
                <a:solidFill>
                  <a:schemeClr val="bg1"/>
                </a:solidFill>
                <a:latin typeface="Lato" panose="020F0502020204030203" pitchFamily="34" charset="0"/>
                <a:ea typeface="Lato" panose="020F0502020204030203" pitchFamily="34" charset="0"/>
                <a:cs typeface="Lato" panose="020F0502020204030203" pitchFamily="34" charset="0"/>
              </a:rPr>
              <a:t>Kiến trúc tổng quan hệ thống</a:t>
            </a:r>
          </a:p>
        </p:txBody>
      </p:sp>
      <p:pic>
        <p:nvPicPr>
          <p:cNvPr id="9" name="Picture 8" descr="PlantUML diagram">
            <a:extLst>
              <a:ext uri="{FF2B5EF4-FFF2-40B4-BE49-F238E27FC236}">
                <a16:creationId xmlns:a16="http://schemas.microsoft.com/office/drawing/2014/main" id="{94C22CDF-C740-B998-F8FE-A6DBCDF1536F}"/>
              </a:ext>
            </a:extLst>
          </p:cNvPr>
          <p:cNvPicPr>
            <a:picLocks noChangeAspect="1"/>
          </p:cNvPicPr>
          <p:nvPr/>
        </p:nvPicPr>
        <p:blipFill>
          <a:blip r:embed="rId2"/>
          <a:stretch>
            <a:fillRect/>
          </a:stretch>
        </p:blipFill>
        <p:spPr>
          <a:xfrm>
            <a:off x="3346821" y="1250951"/>
            <a:ext cx="5925077" cy="5234940"/>
          </a:xfrm>
          <a:prstGeom prst="rect">
            <a:avLst/>
          </a:prstGeom>
        </p:spPr>
      </p:pic>
    </p:spTree>
    <p:extLst>
      <p:ext uri="{BB962C8B-B14F-4D97-AF65-F5344CB8AC3E}">
        <p14:creationId xmlns:p14="http://schemas.microsoft.com/office/powerpoint/2010/main" val="1341840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A4296-7C3F-41F1-C111-1C972FE7EC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331F1D-3044-487E-FA61-F61A8C6FC111}"/>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5" name="Title 4">
            <a:extLst>
              <a:ext uri="{FF2B5EF4-FFF2-40B4-BE49-F238E27FC236}">
                <a16:creationId xmlns:a16="http://schemas.microsoft.com/office/drawing/2014/main" id="{0EDE8CEC-B343-2BBD-1E87-9C69770583C4}"/>
              </a:ext>
            </a:extLst>
          </p:cNvPr>
          <p:cNvSpPr>
            <a:spLocks noGrp="1"/>
          </p:cNvSpPr>
          <p:nvPr>
            <p:ph type="title"/>
          </p:nvPr>
        </p:nvSpPr>
        <p:spPr>
          <a:xfrm>
            <a:off x="925957" y="720616"/>
            <a:ext cx="8673846" cy="451739"/>
          </a:xfrm>
        </p:spPr>
        <p:txBody>
          <a:bodyPr/>
          <a:lstStyle/>
          <a:p>
            <a:r>
              <a:rPr lang="en-US"/>
              <a:t>Phân tích chức năng — Use case tổng quát</a:t>
            </a:r>
          </a:p>
        </p:txBody>
      </p:sp>
      <p:pic>
        <p:nvPicPr>
          <p:cNvPr id="13" name="Picture 12" descr="PlantUML diagram">
            <a:extLst>
              <a:ext uri="{FF2B5EF4-FFF2-40B4-BE49-F238E27FC236}">
                <a16:creationId xmlns:a16="http://schemas.microsoft.com/office/drawing/2014/main" id="{0B4A7CBA-B448-3750-8BBA-DD95E8917929}"/>
              </a:ext>
            </a:extLst>
          </p:cNvPr>
          <p:cNvPicPr>
            <a:picLocks noChangeAspect="1"/>
          </p:cNvPicPr>
          <p:nvPr/>
        </p:nvPicPr>
        <p:blipFill>
          <a:blip r:embed="rId2"/>
          <a:stretch>
            <a:fillRect/>
          </a:stretch>
        </p:blipFill>
        <p:spPr>
          <a:xfrm>
            <a:off x="81996" y="1472667"/>
            <a:ext cx="8980007" cy="4408368"/>
          </a:xfrm>
          <a:prstGeom prst="rect">
            <a:avLst/>
          </a:prstGeom>
        </p:spPr>
      </p:pic>
      <p:sp>
        <p:nvSpPr>
          <p:cNvPr id="4" name="TextBox 3">
            <a:extLst>
              <a:ext uri="{FF2B5EF4-FFF2-40B4-BE49-F238E27FC236}">
                <a16:creationId xmlns:a16="http://schemas.microsoft.com/office/drawing/2014/main" id="{714978A8-02D2-BAC6-1329-D4B8A4588516}"/>
              </a:ext>
            </a:extLst>
          </p:cNvPr>
          <p:cNvSpPr txBox="1"/>
          <p:nvPr/>
        </p:nvSpPr>
        <p:spPr>
          <a:xfrm>
            <a:off x="205740" y="47240"/>
            <a:ext cx="4800600" cy="523220"/>
          </a:xfrm>
          <a:prstGeom prst="rect">
            <a:avLst/>
          </a:prstGeom>
          <a:noFill/>
        </p:spPr>
        <p:txBody>
          <a:bodyPr wrap="square">
            <a:spAutoFit/>
          </a:bodyPr>
          <a:lstStyle/>
          <a:p>
            <a:r>
              <a:rPr lang="en-US" sz="2800" b="1">
                <a:solidFill>
                  <a:schemeClr val="bg1"/>
                </a:solidFill>
                <a:latin typeface="Lato" panose="020F0502020204030203" pitchFamily="34" charset="0"/>
                <a:ea typeface="Lato" panose="020F0502020204030203" pitchFamily="34" charset="0"/>
                <a:cs typeface="Lato" panose="020F0502020204030203" pitchFamily="34" charset="0"/>
              </a:rPr>
              <a:t>3. Thiết kế hệ thống</a:t>
            </a:r>
          </a:p>
        </p:txBody>
      </p:sp>
    </p:spTree>
    <p:extLst>
      <p:ext uri="{BB962C8B-B14F-4D97-AF65-F5344CB8AC3E}">
        <p14:creationId xmlns:p14="http://schemas.microsoft.com/office/powerpoint/2010/main" val="2048672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B85F9-A00A-ACB2-0888-725671B54B2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7A68AF-CBD2-5133-5BD4-7C62B6C8ED52}"/>
              </a:ext>
            </a:extLst>
          </p:cNvPr>
          <p:cNvSpPr>
            <a:spLocks noGrp="1"/>
          </p:cNvSpPr>
          <p:nvPr>
            <p:ph type="sldNum" sz="quarter" idx="12"/>
          </p:nvPr>
        </p:nvSpPr>
        <p:spPr/>
        <p:txBody>
          <a:bodyPr/>
          <a:lstStyle/>
          <a:p>
            <a:fld id="{9EA0BE3B-158A-4EDF-80DC-E394A0D1600F}" type="slidenum">
              <a:rPr lang="en-US" smtClean="0"/>
              <a:pPr/>
              <a:t>8</a:t>
            </a:fld>
            <a:endParaRPr lang="en-US" dirty="0"/>
          </a:p>
        </p:txBody>
      </p:sp>
      <p:pic>
        <p:nvPicPr>
          <p:cNvPr id="7" name="Content Placeholder 6">
            <a:extLst>
              <a:ext uri="{FF2B5EF4-FFF2-40B4-BE49-F238E27FC236}">
                <a16:creationId xmlns:a16="http://schemas.microsoft.com/office/drawing/2014/main" id="{5BF7EC3B-BF5C-F1F1-32DD-CC20C10721B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p:blipFill>
        <p:spPr>
          <a:xfrm>
            <a:off x="89689" y="1344187"/>
            <a:ext cx="9054311" cy="4804993"/>
          </a:xfrm>
          <a:prstGeom prst="rect">
            <a:avLst/>
          </a:prstGeom>
        </p:spPr>
      </p:pic>
      <p:sp>
        <p:nvSpPr>
          <p:cNvPr id="5" name="Title 4">
            <a:extLst>
              <a:ext uri="{FF2B5EF4-FFF2-40B4-BE49-F238E27FC236}">
                <a16:creationId xmlns:a16="http://schemas.microsoft.com/office/drawing/2014/main" id="{16822719-83AC-768C-E2CC-20DF6EE83406}"/>
              </a:ext>
            </a:extLst>
          </p:cNvPr>
          <p:cNvSpPr>
            <a:spLocks noGrp="1"/>
          </p:cNvSpPr>
          <p:nvPr>
            <p:ph type="title"/>
          </p:nvPr>
        </p:nvSpPr>
        <p:spPr>
          <a:xfrm>
            <a:off x="1534858" y="708820"/>
            <a:ext cx="6074283" cy="451739"/>
          </a:xfrm>
        </p:spPr>
        <p:txBody>
          <a:bodyPr/>
          <a:lstStyle/>
          <a:p>
            <a:pPr algn="ctr"/>
            <a:r>
              <a:rPr lang="vi-VN"/>
              <a:t>Thiết kế cơ sở dữ liệu (ERD)</a:t>
            </a:r>
            <a:endParaRPr lang="en-US"/>
          </a:p>
        </p:txBody>
      </p:sp>
      <p:sp>
        <p:nvSpPr>
          <p:cNvPr id="4" name="TextBox 3">
            <a:extLst>
              <a:ext uri="{FF2B5EF4-FFF2-40B4-BE49-F238E27FC236}">
                <a16:creationId xmlns:a16="http://schemas.microsoft.com/office/drawing/2014/main" id="{DDD83CF8-83F6-3C1B-F19D-15D2E8E3B0AC}"/>
              </a:ext>
            </a:extLst>
          </p:cNvPr>
          <p:cNvSpPr txBox="1"/>
          <p:nvPr/>
        </p:nvSpPr>
        <p:spPr>
          <a:xfrm>
            <a:off x="175260" y="10160"/>
            <a:ext cx="4800600" cy="523220"/>
          </a:xfrm>
          <a:prstGeom prst="rect">
            <a:avLst/>
          </a:prstGeom>
          <a:noFill/>
        </p:spPr>
        <p:txBody>
          <a:bodyPr wrap="square">
            <a:spAutoFit/>
          </a:bodyPr>
          <a:lstStyle/>
          <a:p>
            <a:r>
              <a:rPr lang="en-US" sz="2800" b="1">
                <a:solidFill>
                  <a:schemeClr val="bg1"/>
                </a:solidFill>
                <a:latin typeface="Lato" panose="020F0502020204030203" pitchFamily="34" charset="0"/>
                <a:ea typeface="Lato" panose="020F0502020204030203" pitchFamily="34" charset="0"/>
                <a:cs typeface="Lato" panose="020F0502020204030203" pitchFamily="34" charset="0"/>
              </a:rPr>
              <a:t>3. Thiết kế hệ thống</a:t>
            </a:r>
          </a:p>
        </p:txBody>
      </p:sp>
    </p:spTree>
    <p:extLst>
      <p:ext uri="{BB962C8B-B14F-4D97-AF65-F5344CB8AC3E}">
        <p14:creationId xmlns:p14="http://schemas.microsoft.com/office/powerpoint/2010/main" val="2909438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24D37-223D-F08C-B33D-0841CAE3CE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DB2F4E-77A0-58F6-65AF-325435A941E2}"/>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Content Placeholder 2">
            <a:extLst>
              <a:ext uri="{FF2B5EF4-FFF2-40B4-BE49-F238E27FC236}">
                <a16:creationId xmlns:a16="http://schemas.microsoft.com/office/drawing/2014/main" id="{9ADE656F-6EB4-A46E-5F17-0D729856D6B6}"/>
              </a:ext>
            </a:extLst>
          </p:cNvPr>
          <p:cNvSpPr>
            <a:spLocks noGrp="1"/>
          </p:cNvSpPr>
          <p:nvPr>
            <p:ph sz="half" idx="1"/>
          </p:nvPr>
        </p:nvSpPr>
        <p:spPr>
          <a:xfrm>
            <a:off x="0" y="1423289"/>
            <a:ext cx="3886200" cy="4351338"/>
          </a:xfrm>
        </p:spPr>
        <p:txBody>
          <a:bodyPr/>
          <a:lstStyle/>
          <a:p>
            <a:r>
              <a:rPr lang="vi-VN" sz="2000"/>
              <a:t>Tải ảnh → tiền xử lý</a:t>
            </a:r>
          </a:p>
          <a:p>
            <a:r>
              <a:rPr lang="vi-VN" sz="2000"/>
              <a:t>Hai tầng EfficientNet dự đoán</a:t>
            </a:r>
          </a:p>
          <a:p>
            <a:r>
              <a:rPr lang="vi-VN" sz="2000"/>
              <a:t>Đủ tin cậy: ánh xạ về công thức chuẩn</a:t>
            </a:r>
          </a:p>
          <a:p>
            <a:r>
              <a:rPr lang="vi-VN" sz="2000"/>
              <a:t>Không đủ: báo “không nhận diện được”</a:t>
            </a:r>
          </a:p>
        </p:txBody>
      </p:sp>
      <p:pic>
        <p:nvPicPr>
          <p:cNvPr id="7" name="Content Placeholder 6">
            <a:extLst>
              <a:ext uri="{FF2B5EF4-FFF2-40B4-BE49-F238E27FC236}">
                <a16:creationId xmlns:a16="http://schemas.microsoft.com/office/drawing/2014/main" id="{E88ACD26-F5E3-1E35-6533-F57A3372D4F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p:blipFill>
        <p:spPr>
          <a:xfrm>
            <a:off x="3744227" y="1211466"/>
            <a:ext cx="5257533" cy="5360660"/>
          </a:xfrm>
          <a:prstGeom prst="rect">
            <a:avLst/>
          </a:prstGeom>
        </p:spPr>
      </p:pic>
      <p:sp>
        <p:nvSpPr>
          <p:cNvPr id="5" name="Title 4">
            <a:extLst>
              <a:ext uri="{FF2B5EF4-FFF2-40B4-BE49-F238E27FC236}">
                <a16:creationId xmlns:a16="http://schemas.microsoft.com/office/drawing/2014/main" id="{D3FEF28B-3CC4-8AAC-8C91-2AF692136C88}"/>
              </a:ext>
            </a:extLst>
          </p:cNvPr>
          <p:cNvSpPr>
            <a:spLocks noGrp="1"/>
          </p:cNvSpPr>
          <p:nvPr>
            <p:ph type="title"/>
          </p:nvPr>
        </p:nvSpPr>
        <p:spPr>
          <a:xfrm>
            <a:off x="250937" y="759727"/>
            <a:ext cx="8673846" cy="451739"/>
          </a:xfrm>
        </p:spPr>
        <p:txBody>
          <a:bodyPr/>
          <a:lstStyle/>
          <a:p>
            <a:pPr algn="ctr"/>
            <a:r>
              <a:rPr lang="en-US" sz="2400"/>
              <a:t>Thiết kế hoạt động: Nhận diện món ăn</a:t>
            </a:r>
          </a:p>
        </p:txBody>
      </p:sp>
      <p:sp>
        <p:nvSpPr>
          <p:cNvPr id="6" name="TextBox 5">
            <a:extLst>
              <a:ext uri="{FF2B5EF4-FFF2-40B4-BE49-F238E27FC236}">
                <a16:creationId xmlns:a16="http://schemas.microsoft.com/office/drawing/2014/main" id="{387C51E9-DAB9-F849-C939-A5C382E8F7AF}"/>
              </a:ext>
            </a:extLst>
          </p:cNvPr>
          <p:cNvSpPr txBox="1"/>
          <p:nvPr/>
        </p:nvSpPr>
        <p:spPr>
          <a:xfrm>
            <a:off x="205740" y="47240"/>
            <a:ext cx="4800600" cy="523220"/>
          </a:xfrm>
          <a:prstGeom prst="rect">
            <a:avLst/>
          </a:prstGeom>
          <a:noFill/>
        </p:spPr>
        <p:txBody>
          <a:bodyPr wrap="square">
            <a:spAutoFit/>
          </a:bodyPr>
          <a:lstStyle/>
          <a:p>
            <a:r>
              <a:rPr lang="en-US" sz="2800" b="1">
                <a:solidFill>
                  <a:schemeClr val="bg1"/>
                </a:solidFill>
                <a:latin typeface="Lato" panose="020F0502020204030203" pitchFamily="34" charset="0"/>
                <a:ea typeface="Lato" panose="020F0502020204030203" pitchFamily="34" charset="0"/>
                <a:cs typeface="Lato" panose="020F0502020204030203" pitchFamily="34" charset="0"/>
              </a:rPr>
              <a:t>3. Thiết kế hệ thống</a:t>
            </a:r>
          </a:p>
        </p:txBody>
      </p:sp>
    </p:spTree>
    <p:extLst>
      <p:ext uri="{BB962C8B-B14F-4D97-AF65-F5344CB8AC3E}">
        <p14:creationId xmlns:p14="http://schemas.microsoft.com/office/powerpoint/2010/main" val="14823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4F8B0-634B-A6A2-FD1E-AB146C787D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7A5BEE-044E-BB4A-70E9-631AF7B46C1A}"/>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Content Placeholder 2">
            <a:extLst>
              <a:ext uri="{FF2B5EF4-FFF2-40B4-BE49-F238E27FC236}">
                <a16:creationId xmlns:a16="http://schemas.microsoft.com/office/drawing/2014/main" id="{8DDC409E-A93B-25F0-E20B-E0CCC7A53903}"/>
              </a:ext>
            </a:extLst>
          </p:cNvPr>
          <p:cNvSpPr>
            <a:spLocks noGrp="1"/>
          </p:cNvSpPr>
          <p:nvPr>
            <p:ph sz="half" idx="1"/>
          </p:nvPr>
        </p:nvSpPr>
        <p:spPr>
          <a:xfrm>
            <a:off x="68954" y="1490666"/>
            <a:ext cx="3059257" cy="4351338"/>
          </a:xfrm>
        </p:spPr>
        <p:txBody>
          <a:bodyPr/>
          <a:lstStyle/>
          <a:p>
            <a:r>
              <a:rPr lang="vi-VN" sz="2000"/>
              <a:t>Người dùng gửi “yêu cầu thay đổi” (chờ duyệt)</a:t>
            </a:r>
          </a:p>
          <a:p>
            <a:r>
              <a:rPr lang="vi-VN" sz="2000"/>
              <a:t>Quản trị viên duyệt hoặc từ chối kèm lý do</a:t>
            </a:r>
          </a:p>
          <a:p>
            <a:r>
              <a:rPr lang="vi-VN" sz="2000"/>
              <a:t>Được duyệt: áp dụng thay đổi vào kho</a:t>
            </a:r>
          </a:p>
          <a:p>
            <a:r>
              <a:rPr lang="vi-VN" sz="2000"/>
              <a:t>Thống nhất cho cả tạo / sửa / xóa</a:t>
            </a:r>
          </a:p>
        </p:txBody>
      </p:sp>
      <p:pic>
        <p:nvPicPr>
          <p:cNvPr id="7" name="Content Placeholder 6">
            <a:extLst>
              <a:ext uri="{FF2B5EF4-FFF2-40B4-BE49-F238E27FC236}">
                <a16:creationId xmlns:a16="http://schemas.microsoft.com/office/drawing/2014/main" id="{474B677F-C25D-E065-CE41-5E3A369B139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p:blipFill>
        <p:spPr>
          <a:xfrm>
            <a:off x="3031959" y="1250907"/>
            <a:ext cx="5969802" cy="5202729"/>
          </a:xfrm>
          <a:prstGeom prst="rect">
            <a:avLst/>
          </a:prstGeom>
        </p:spPr>
      </p:pic>
      <p:sp>
        <p:nvSpPr>
          <p:cNvPr id="5" name="Title 4">
            <a:extLst>
              <a:ext uri="{FF2B5EF4-FFF2-40B4-BE49-F238E27FC236}">
                <a16:creationId xmlns:a16="http://schemas.microsoft.com/office/drawing/2014/main" id="{103ED952-F63F-9A9D-D25F-5E2CE0B24736}"/>
              </a:ext>
            </a:extLst>
          </p:cNvPr>
          <p:cNvSpPr>
            <a:spLocks noGrp="1"/>
          </p:cNvSpPr>
          <p:nvPr>
            <p:ph type="title"/>
          </p:nvPr>
        </p:nvSpPr>
        <p:spPr>
          <a:xfrm>
            <a:off x="235077" y="753813"/>
            <a:ext cx="8673846" cy="451739"/>
          </a:xfrm>
        </p:spPr>
        <p:txBody>
          <a:bodyPr/>
          <a:lstStyle/>
          <a:p>
            <a:pPr algn="ctr"/>
            <a:r>
              <a:rPr lang="en-US" sz="2400"/>
              <a:t>Thiết kế hoạt động: Đề xuất &amp; duyệt công thức</a:t>
            </a:r>
          </a:p>
        </p:txBody>
      </p:sp>
      <p:sp>
        <p:nvSpPr>
          <p:cNvPr id="6" name="TextBox 5">
            <a:extLst>
              <a:ext uri="{FF2B5EF4-FFF2-40B4-BE49-F238E27FC236}">
                <a16:creationId xmlns:a16="http://schemas.microsoft.com/office/drawing/2014/main" id="{26EA4976-CB33-97F5-4B80-AEF2BD3C7E7B}"/>
              </a:ext>
            </a:extLst>
          </p:cNvPr>
          <p:cNvSpPr txBox="1"/>
          <p:nvPr/>
        </p:nvSpPr>
        <p:spPr>
          <a:xfrm>
            <a:off x="205740" y="47240"/>
            <a:ext cx="4800600" cy="523220"/>
          </a:xfrm>
          <a:prstGeom prst="rect">
            <a:avLst/>
          </a:prstGeom>
          <a:noFill/>
        </p:spPr>
        <p:txBody>
          <a:bodyPr wrap="square">
            <a:spAutoFit/>
          </a:bodyPr>
          <a:lstStyle/>
          <a:p>
            <a:r>
              <a:rPr lang="en-US" sz="2800" b="1">
                <a:solidFill>
                  <a:schemeClr val="bg1"/>
                </a:solidFill>
                <a:latin typeface="Lato" panose="020F0502020204030203" pitchFamily="34" charset="0"/>
                <a:ea typeface="Lato" panose="020F0502020204030203" pitchFamily="34" charset="0"/>
                <a:cs typeface="Lato" panose="020F0502020204030203" pitchFamily="34" charset="0"/>
              </a:rPr>
              <a:t>3. Thiết kế hệ thống</a:t>
            </a:r>
          </a:p>
        </p:txBody>
      </p:sp>
    </p:spTree>
    <p:extLst>
      <p:ext uri="{BB962C8B-B14F-4D97-AF65-F5344CB8AC3E}">
        <p14:creationId xmlns:p14="http://schemas.microsoft.com/office/powerpoint/2010/main" val="4030680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6E541-98AA-A287-6A7A-E6DDF06C551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FD01BF-28A1-1534-0F1C-E1CAE7471D57}"/>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Content Placeholder 2">
            <a:extLst>
              <a:ext uri="{FF2B5EF4-FFF2-40B4-BE49-F238E27FC236}">
                <a16:creationId xmlns:a16="http://schemas.microsoft.com/office/drawing/2014/main" id="{DB4D3778-CB9B-EB5B-B2BC-165100656C6E}"/>
              </a:ext>
            </a:extLst>
          </p:cNvPr>
          <p:cNvSpPr>
            <a:spLocks noGrp="1"/>
          </p:cNvSpPr>
          <p:nvPr>
            <p:ph sz="half" idx="1"/>
          </p:nvPr>
        </p:nvSpPr>
        <p:spPr>
          <a:xfrm>
            <a:off x="0" y="1471950"/>
            <a:ext cx="3556000" cy="4351338"/>
          </a:xfrm>
        </p:spPr>
        <p:txBody>
          <a:bodyPr/>
          <a:lstStyle/>
          <a:p>
            <a:r>
              <a:rPr lang="vi-VN" sz="2000"/>
              <a:t>Tầng 1 — EfficientNet-B0: phân 8 nhóm món</a:t>
            </a:r>
            <a:r>
              <a:rPr lang="en-US" sz="2000"/>
              <a:t> (threshold: 0,5)</a:t>
            </a:r>
            <a:endParaRPr lang="vi-VN" sz="2000"/>
          </a:p>
          <a:p>
            <a:r>
              <a:rPr lang="vi-VN" sz="2000"/>
              <a:t>Tầng 2 — EfficientNet-B2 chuyên biệt: món chi tiết</a:t>
            </a:r>
            <a:r>
              <a:rPr lang="en-US" sz="2000"/>
              <a:t> (thredhold: 0,6)</a:t>
            </a:r>
            <a:endParaRPr lang="vi-VN" sz="2000"/>
          </a:p>
          <a:p>
            <a:r>
              <a:rPr lang="vi-VN" sz="2000"/>
              <a:t>Vận dụng hướng phân cấp coarse-to-fine </a:t>
            </a:r>
            <a:endParaRPr lang="en-US" sz="2000"/>
          </a:p>
          <a:p>
            <a:r>
              <a:rPr lang="vi-VN" sz="2000"/>
              <a:t>Mỗi mô hình con chỉ phân biệt ít lớp → tăng độ chính xác</a:t>
            </a:r>
          </a:p>
        </p:txBody>
      </p:sp>
      <p:sp>
        <p:nvSpPr>
          <p:cNvPr id="5" name="Title 4">
            <a:extLst>
              <a:ext uri="{FF2B5EF4-FFF2-40B4-BE49-F238E27FC236}">
                <a16:creationId xmlns:a16="http://schemas.microsoft.com/office/drawing/2014/main" id="{719EEBD8-08D2-4B31-0570-D23CDC896677}"/>
              </a:ext>
            </a:extLst>
          </p:cNvPr>
          <p:cNvSpPr>
            <a:spLocks noGrp="1"/>
          </p:cNvSpPr>
          <p:nvPr>
            <p:ph type="title"/>
          </p:nvPr>
        </p:nvSpPr>
        <p:spPr/>
        <p:txBody>
          <a:bodyPr/>
          <a:lstStyle/>
          <a:p>
            <a:r>
              <a:rPr lang="en-US"/>
              <a:t>Kiến trúc nhận diện hai tầng</a:t>
            </a:r>
          </a:p>
        </p:txBody>
      </p:sp>
      <p:pic>
        <p:nvPicPr>
          <p:cNvPr id="8" name="Picture 7" descr="PlantUML diagram">
            <a:extLst>
              <a:ext uri="{FF2B5EF4-FFF2-40B4-BE49-F238E27FC236}">
                <a16:creationId xmlns:a16="http://schemas.microsoft.com/office/drawing/2014/main" id="{6D6B973B-C8D4-CF9F-667F-5FAA888F9A8D}"/>
              </a:ext>
            </a:extLst>
          </p:cNvPr>
          <p:cNvPicPr>
            <a:picLocks noChangeAspect="1"/>
          </p:cNvPicPr>
          <p:nvPr/>
        </p:nvPicPr>
        <p:blipFill>
          <a:blip r:embed="rId2"/>
          <a:stretch>
            <a:fillRect/>
          </a:stretch>
        </p:blipFill>
        <p:spPr>
          <a:xfrm>
            <a:off x="3764280" y="691730"/>
            <a:ext cx="4861560" cy="6087657"/>
          </a:xfrm>
          <a:prstGeom prst="rect">
            <a:avLst/>
          </a:prstGeom>
        </p:spPr>
      </p:pic>
    </p:spTree>
    <p:extLst>
      <p:ext uri="{BB962C8B-B14F-4D97-AF65-F5344CB8AC3E}">
        <p14:creationId xmlns:p14="http://schemas.microsoft.com/office/powerpoint/2010/main" val="4134017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t>4. Kết quả</a:t>
            </a:r>
          </a:p>
        </p:txBody>
      </p:sp>
      <p:sp>
        <p:nvSpPr>
          <p:cNvPr id="2" name="Slide Number Placeholder 1">
            <a:extLst>
              <a:ext uri="{FF2B5EF4-FFF2-40B4-BE49-F238E27FC236}">
                <a16:creationId xmlns:a16="http://schemas.microsoft.com/office/drawing/2014/main" id="{6B0FC1EF-4A66-B26F-A7D9-3A843B4E4A30}"/>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extBox 3">
            <a:extLst>
              <a:ext uri="{FF2B5EF4-FFF2-40B4-BE49-F238E27FC236}">
                <a16:creationId xmlns:a16="http://schemas.microsoft.com/office/drawing/2014/main" id="{5702C2CF-69D5-E631-1E52-37D87BE73C4F}"/>
              </a:ext>
            </a:extLst>
          </p:cNvPr>
          <p:cNvSpPr txBox="1"/>
          <p:nvPr/>
        </p:nvSpPr>
        <p:spPr>
          <a:xfrm>
            <a:off x="2329688" y="744280"/>
            <a:ext cx="4643120" cy="369332"/>
          </a:xfrm>
          <a:prstGeom prst="rect">
            <a:avLst/>
          </a:prstGeom>
          <a:noFill/>
        </p:spPr>
        <p:txBody>
          <a:bodyPr wrap="square" rtlCol="0">
            <a:spAutoFit/>
          </a:bodyPr>
          <a:lstStyle/>
          <a:p>
            <a:pPr algn="ctr"/>
            <a:r>
              <a:rPr lang="en-US" b="1">
                <a:solidFill>
                  <a:schemeClr val="bg1"/>
                </a:solidFill>
                <a:latin typeface="Lato" panose="020F0502020204030203" pitchFamily="34" charset="0"/>
                <a:ea typeface="Lato" panose="020F0502020204030203" pitchFamily="34" charset="0"/>
                <a:cs typeface="Lato" panose="020F0502020204030203" pitchFamily="34" charset="0"/>
              </a:rPr>
              <a:t>Yêu cầu phi chức năng </a:t>
            </a:r>
          </a:p>
        </p:txBody>
      </p:sp>
      <p:graphicFrame>
        <p:nvGraphicFramePr>
          <p:cNvPr id="5" name="Table 4"/>
          <p:cNvGraphicFramePr>
            <a:graphicFrameLocks noGrp="1"/>
          </p:cNvGraphicFramePr>
          <p:nvPr>
            <p:extLst>
              <p:ext uri="{D42A27DB-BD31-4B8C-83A1-F6EECF244321}">
                <p14:modId xmlns:p14="http://schemas.microsoft.com/office/powerpoint/2010/main" val="4288824882"/>
              </p:ext>
            </p:extLst>
          </p:nvPr>
        </p:nvGraphicFramePr>
        <p:xfrm>
          <a:off x="365760" y="1371600"/>
          <a:ext cx="8412480" cy="46177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762000">
                <a:tc>
                  <a:txBody>
                    <a:bodyPr/>
                    <a:lstStyle/>
                    <a:p>
                      <a:r>
                        <a:rPr sz="1600" b="1">
                          <a:solidFill>
                            <a:srgbClr val="FFFFFF"/>
                          </a:solidFill>
                          <a:latin typeface="Lato" panose="020F0502020204030203" pitchFamily="34" charset="0"/>
                          <a:ea typeface="Lato" panose="020F0502020204030203" pitchFamily="34" charset="0"/>
                          <a:cs typeface="Lato" panose="020F0502020204030203" pitchFamily="34" charset="0"/>
                        </a:rPr>
                        <a:t>Yêu cầu phi chức năng</a:t>
                      </a:r>
                    </a:p>
                  </a:txBody>
                  <a:tcPr anchor="ctr">
                    <a:solidFill>
                      <a:srgbClr val="4472C4"/>
                    </a:solidFill>
                  </a:tcPr>
                </a:tc>
                <a:tc>
                  <a:txBody>
                    <a:bodyPr/>
                    <a:lstStyle/>
                    <a:p>
                      <a:r>
                        <a:rPr sz="1600" b="1">
                          <a:solidFill>
                            <a:srgbClr val="FFFFFF"/>
                          </a:solidFill>
                          <a:latin typeface="Lato" panose="020F0502020204030203" pitchFamily="34" charset="0"/>
                          <a:ea typeface="Lato" panose="020F0502020204030203" pitchFamily="34" charset="0"/>
                          <a:cs typeface="Lato" panose="020F0502020204030203" pitchFamily="34" charset="0"/>
                        </a:rPr>
                        <a:t>Hệ thống giải quyết như thế nào</a:t>
                      </a:r>
                    </a:p>
                  </a:txBody>
                  <a:tcPr anchor="ctr">
                    <a:solidFill>
                      <a:srgbClr val="4472C4"/>
                    </a:solidFill>
                  </a:tcPr>
                </a:tc>
                <a:extLst>
                  <a:ext uri="{0D108BD9-81ED-4DB2-BD59-A6C34878D82A}">
                    <a16:rowId xmlns:a16="http://schemas.microsoft.com/office/drawing/2014/main" val="10000"/>
                  </a:ext>
                </a:extLst>
              </a:tr>
              <a:tr h="762000">
                <a:tc>
                  <a:txBody>
                    <a:bodyPr/>
                    <a:lstStyle/>
                    <a:p>
                      <a:r>
                        <a:rPr sz="1600" b="1">
                          <a:solidFill>
                            <a:srgbClr val="4472C4"/>
                          </a:solidFill>
                          <a:latin typeface="Lato" panose="020F0502020204030203" pitchFamily="34" charset="0"/>
                          <a:ea typeface="Lato" panose="020F0502020204030203" pitchFamily="34" charset="0"/>
                          <a:cs typeface="Lato" panose="020F0502020204030203" pitchFamily="34" charset="0"/>
                        </a:rPr>
                        <a:t>Hiệu suất</a:t>
                      </a:r>
                    </a:p>
                  </a:txBody>
                  <a:tcPr marT="38100" marB="38100" anchor="ctr">
                    <a:solidFill>
                      <a:srgbClr val="FFFFFF"/>
                    </a:solidFill>
                  </a:tcPr>
                </a:tc>
                <a:tc>
                  <a:txBody>
                    <a:bodyPr/>
                    <a:lstStyle/>
                    <a:p>
                      <a:r>
                        <a:rPr lang="vi-VN" sz="1600" b="0">
                          <a:solidFill>
                            <a:schemeClr val="tx1"/>
                          </a:solidFill>
                          <a:latin typeface="Lato" panose="020F0502020204030203" pitchFamily="34" charset="0"/>
                          <a:ea typeface="Lato" panose="020F0502020204030203" pitchFamily="34" charset="0"/>
                          <a:cs typeface="Lato" panose="020F0502020204030203" pitchFamily="34" charset="0"/>
                        </a:rPr>
                        <a:t>Async + connection pool + phân trang + eager-load (0 N+1) + CDN. Tải cloud: ~15 người đồng thời, p95 ~1,9s, 0% lỗi.</a:t>
                      </a:r>
                    </a:p>
                  </a:txBody>
                  <a:tcPr marT="38100" marB="38100" anchor="ctr">
                    <a:solidFill>
                      <a:srgbClr val="FFFFFF"/>
                    </a:solidFill>
                  </a:tcPr>
                </a:tc>
                <a:extLst>
                  <a:ext uri="{0D108BD9-81ED-4DB2-BD59-A6C34878D82A}">
                    <a16:rowId xmlns:a16="http://schemas.microsoft.com/office/drawing/2014/main" val="10001"/>
                  </a:ext>
                </a:extLst>
              </a:tr>
              <a:tr h="762000">
                <a:tc>
                  <a:txBody>
                    <a:bodyPr/>
                    <a:lstStyle/>
                    <a:p>
                      <a:r>
                        <a:rPr sz="1600" b="1">
                          <a:solidFill>
                            <a:srgbClr val="4472C4"/>
                          </a:solidFill>
                          <a:latin typeface="Lato" panose="020F0502020204030203" pitchFamily="34" charset="0"/>
                          <a:ea typeface="Lato" panose="020F0502020204030203" pitchFamily="34" charset="0"/>
                          <a:cs typeface="Lato" panose="020F0502020204030203" pitchFamily="34" charset="0"/>
                        </a:rPr>
                        <a:t>Bảo mật</a:t>
                      </a:r>
                    </a:p>
                  </a:txBody>
                  <a:tcPr marT="38100" marB="38100" anchor="ctr">
                    <a:solidFill>
                      <a:srgbClr val="FFFFFF"/>
                    </a:solidFill>
                  </a:tcPr>
                </a:tc>
                <a:tc>
                  <a:txBody>
                    <a:bodyPr/>
                    <a:lstStyle/>
                    <a:p>
                      <a:r>
                        <a:rPr lang="en-US" sz="1600" b="0">
                          <a:solidFill>
                            <a:schemeClr val="tx1"/>
                          </a:solidFill>
                          <a:latin typeface="Lato" panose="020F0502020204030203" pitchFamily="34" charset="0"/>
                          <a:ea typeface="Lato" panose="020F0502020204030203" pitchFamily="34" charset="0"/>
                          <a:cs typeface="Lato" panose="020F0502020204030203" pitchFamily="34" charset="0"/>
                        </a:rPr>
                        <a:t>Bcrypt, JWT, phân quyền RBAC, rate-limit (Redis), HTTPS.</a:t>
                      </a:r>
                    </a:p>
                  </a:txBody>
                  <a:tcPr marT="38100" marB="38100" anchor="ctr">
                    <a:solidFill>
                      <a:srgbClr val="FFFFFF"/>
                    </a:solidFill>
                  </a:tcPr>
                </a:tc>
                <a:extLst>
                  <a:ext uri="{0D108BD9-81ED-4DB2-BD59-A6C34878D82A}">
                    <a16:rowId xmlns:a16="http://schemas.microsoft.com/office/drawing/2014/main" val="10002"/>
                  </a:ext>
                </a:extLst>
              </a:tr>
              <a:tr h="762000">
                <a:tc>
                  <a:txBody>
                    <a:bodyPr/>
                    <a:lstStyle/>
                    <a:p>
                      <a:r>
                        <a:rPr sz="1600" b="1">
                          <a:solidFill>
                            <a:srgbClr val="4472C4"/>
                          </a:solidFill>
                          <a:latin typeface="Lato" panose="020F0502020204030203" pitchFamily="34" charset="0"/>
                          <a:ea typeface="Lato" panose="020F0502020204030203" pitchFamily="34" charset="0"/>
                          <a:cs typeface="Lato" panose="020F0502020204030203" pitchFamily="34" charset="0"/>
                        </a:rPr>
                        <a:t>Độ tin cậy</a:t>
                      </a:r>
                    </a:p>
                  </a:txBody>
                  <a:tcPr marT="38100" marB="38100" anchor="ctr">
                    <a:solidFill>
                      <a:srgbClr val="FFFFFF"/>
                    </a:solidFill>
                  </a:tcPr>
                </a:tc>
                <a:tc>
                  <a:txBody>
                    <a:bodyPr/>
                    <a:lstStyle/>
                    <a:p>
                      <a:r>
                        <a:rPr lang="vi-VN" sz="1600" b="0">
                          <a:solidFill>
                            <a:schemeClr val="tx1"/>
                          </a:solidFill>
                          <a:latin typeface="Lato" panose="020F0502020204030203" pitchFamily="34" charset="0"/>
                          <a:ea typeface="Lato" panose="020F0502020204030203" pitchFamily="34" charset="0"/>
                          <a:cs typeface="Lato" panose="020F0502020204030203" pitchFamily="34" charset="0"/>
                        </a:rPr>
                        <a:t>Chịu lỗi không crash: global handler bắt mọi lỗi → envelope thống nhất (kể cả 500); rollback giao dịch khi lỗi → không hỏng dữ liệu. Kiểm thử tải cloud: 0% lỗi trong ngưỡng ~15 người.</a:t>
                      </a:r>
                    </a:p>
                  </a:txBody>
                  <a:tcPr marT="38100" marB="38100" anchor="ctr">
                    <a:solidFill>
                      <a:srgbClr val="FFFFFF"/>
                    </a:solidFill>
                  </a:tcPr>
                </a:tc>
                <a:extLst>
                  <a:ext uri="{0D108BD9-81ED-4DB2-BD59-A6C34878D82A}">
                    <a16:rowId xmlns:a16="http://schemas.microsoft.com/office/drawing/2014/main" val="10003"/>
                  </a:ext>
                </a:extLst>
              </a:tr>
              <a:tr h="762000">
                <a:tc>
                  <a:txBody>
                    <a:bodyPr/>
                    <a:lstStyle/>
                    <a:p>
                      <a:r>
                        <a:rPr sz="1600" b="1">
                          <a:solidFill>
                            <a:srgbClr val="4472C4"/>
                          </a:solidFill>
                          <a:latin typeface="Lato" panose="020F0502020204030203" pitchFamily="34" charset="0"/>
                          <a:ea typeface="Lato" panose="020F0502020204030203" pitchFamily="34" charset="0"/>
                          <a:cs typeface="Lato" panose="020F0502020204030203" pitchFamily="34" charset="0"/>
                        </a:rPr>
                        <a:t>Khả năng sử dụng</a:t>
                      </a:r>
                    </a:p>
                  </a:txBody>
                  <a:tcPr marT="38100" marB="38100" anchor="ctr">
                    <a:solidFill>
                      <a:srgbClr val="FFFFFF"/>
                    </a:solidFill>
                  </a:tcPr>
                </a:tc>
                <a:tc>
                  <a:txBody>
                    <a:bodyPr/>
                    <a:lstStyle/>
                    <a:p>
                      <a:r>
                        <a:rPr lang="vi-VN" sz="1600" b="0">
                          <a:solidFill>
                            <a:schemeClr val="tx1"/>
                          </a:solidFill>
                          <a:latin typeface="Lato" panose="020F0502020204030203" pitchFamily="34" charset="0"/>
                          <a:ea typeface="Lato" panose="020F0502020204030203" pitchFamily="34" charset="0"/>
                          <a:cs typeface="Lato" panose="020F0502020204030203" pitchFamily="34" charset="0"/>
                        </a:rPr>
                        <a:t>Giao diện trực quan, dễ thao tác cho người dùng</a:t>
                      </a:r>
                      <a:endParaRPr lang="en-US" sz="1600" b="0">
                        <a:solidFill>
                          <a:schemeClr val="tx1"/>
                        </a:solidFill>
                        <a:latin typeface="Lato" panose="020F0502020204030203" pitchFamily="34" charset="0"/>
                        <a:ea typeface="Lato" panose="020F0502020204030203" pitchFamily="34" charset="0"/>
                        <a:cs typeface="Lato" panose="020F0502020204030203" pitchFamily="34" charset="0"/>
                      </a:endParaRPr>
                    </a:p>
                  </a:txBody>
                  <a:tcPr marT="38100" marB="38100" anchor="ctr">
                    <a:solidFill>
                      <a:srgbClr val="FFFFFF"/>
                    </a:solidFill>
                  </a:tcPr>
                </a:tc>
                <a:extLst>
                  <a:ext uri="{0D108BD9-81ED-4DB2-BD59-A6C34878D82A}">
                    <a16:rowId xmlns:a16="http://schemas.microsoft.com/office/drawing/2014/main" val="10004"/>
                  </a:ext>
                </a:extLst>
              </a:tr>
              <a:tr h="762000">
                <a:tc>
                  <a:txBody>
                    <a:bodyPr/>
                    <a:lstStyle/>
                    <a:p>
                      <a:r>
                        <a:rPr sz="1600" b="1">
                          <a:solidFill>
                            <a:srgbClr val="4472C4"/>
                          </a:solidFill>
                          <a:latin typeface="Lato" panose="020F0502020204030203" pitchFamily="34" charset="0"/>
                          <a:ea typeface="Lato" panose="020F0502020204030203" pitchFamily="34" charset="0"/>
                          <a:cs typeface="Lato" panose="020F0502020204030203" pitchFamily="34" charset="0"/>
                        </a:rPr>
                        <a:t>Bảo trì &amp; mở rộng</a:t>
                      </a:r>
                    </a:p>
                  </a:txBody>
                  <a:tcPr marT="38100" marB="38100" anchor="ctr">
                    <a:solidFill>
                      <a:srgbClr val="FFFFFF"/>
                    </a:solidFill>
                  </a:tcPr>
                </a:tc>
                <a:tc>
                  <a:txBody>
                    <a:bodyPr/>
                    <a:lstStyle/>
                    <a:p>
                      <a:r>
                        <a:rPr lang="en-US" sz="1600" b="0">
                          <a:solidFill>
                            <a:schemeClr val="tx1"/>
                          </a:solidFill>
                          <a:latin typeface="Lato" panose="020F0502020204030203" pitchFamily="34" charset="0"/>
                          <a:ea typeface="Lato" panose="020F0502020204030203" pitchFamily="34" charset="0"/>
                          <a:cs typeface="Lato" panose="020F0502020204030203" pitchFamily="34" charset="0"/>
                        </a:rPr>
                        <a:t>Stateless (JWT) → scale ngang; backend ở Render có chế độ Auto scaling(trả phí), tách tầng AI riêng trên HuggingFace.</a:t>
                      </a:r>
                    </a:p>
                  </a:txBody>
                  <a:tcPr marT="38100" marB="3810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t>4. Kết quả</a:t>
            </a:r>
          </a:p>
        </p:txBody>
      </p:sp>
      <p:sp>
        <p:nvSpPr>
          <p:cNvPr id="2" name="Slide Number Placeholder 1">
            <a:extLst>
              <a:ext uri="{FF2B5EF4-FFF2-40B4-BE49-F238E27FC236}">
                <a16:creationId xmlns:a16="http://schemas.microsoft.com/office/drawing/2014/main" id="{6B0FC1EF-4A66-B26F-A7D9-3A843B4E4A30}"/>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3" name="TextBox 3">
            <a:extLst>
              <a:ext uri="{FF2B5EF4-FFF2-40B4-BE49-F238E27FC236}">
                <a16:creationId xmlns:a16="http://schemas.microsoft.com/office/drawing/2014/main" id="{5702C2CF-69D5-E631-1E52-37D87BE73C4F}"/>
              </a:ext>
            </a:extLst>
          </p:cNvPr>
          <p:cNvSpPr txBox="1"/>
          <p:nvPr/>
        </p:nvSpPr>
        <p:spPr>
          <a:xfrm>
            <a:off x="2035048" y="720143"/>
            <a:ext cx="4643120" cy="461665"/>
          </a:xfrm>
          <a:prstGeom prst="rect">
            <a:avLst/>
          </a:prstGeom>
          <a:noFill/>
        </p:spPr>
        <p:txBody>
          <a:bodyPr wrap="square" rtlCol="0">
            <a:spAutoFit/>
          </a:bodyPr>
          <a:lstStyle/>
          <a:p>
            <a:pPr algn="ctr"/>
            <a:r>
              <a:rPr lang="en-US" sz="2400" b="1">
                <a:solidFill>
                  <a:schemeClr val="bg1"/>
                </a:solidFill>
                <a:latin typeface="Lato" panose="020F0502020204030203" pitchFamily="34" charset="0"/>
                <a:ea typeface="Lato" panose="020F0502020204030203" pitchFamily="34" charset="0"/>
                <a:cs typeface="Lato" panose="020F0502020204030203" pitchFamily="34" charset="0"/>
              </a:rPr>
              <a:t>Vận hành</a:t>
            </a:r>
          </a:p>
        </p:txBody>
      </p:sp>
      <p:sp>
        <p:nvSpPr>
          <p:cNvPr id="5" name="TextBox 4"/>
          <p:cNvSpPr txBox="1"/>
          <p:nvPr/>
        </p:nvSpPr>
        <p:spPr>
          <a:xfrm>
            <a:off x="457200" y="1371600"/>
            <a:ext cx="8229600" cy="3826689"/>
          </a:xfrm>
          <a:prstGeom prst="rect">
            <a:avLst/>
          </a:prstGeom>
          <a:noFill/>
        </p:spPr>
        <p:txBody>
          <a:bodyPr wrap="square">
            <a:spAutoFit/>
          </a:bodyPr>
          <a:lstStyle/>
          <a:p>
            <a:pPr>
              <a:spcBef>
                <a:spcPts val="1000"/>
              </a:spcBef>
              <a:spcAft>
                <a:spcPts val="200"/>
              </a:spcAft>
            </a:pPr>
            <a:r>
              <a:rPr sz="2000" b="1">
                <a:latin typeface="Lato" panose="020F0502020204030203" pitchFamily="34" charset="0"/>
                <a:ea typeface="Lato" panose="020F0502020204030203" pitchFamily="34" charset="0"/>
                <a:cs typeface="Lato" panose="020F0502020204030203" pitchFamily="34" charset="0"/>
              </a:rPr>
              <a:t>Sao lưu &amp; phục hồi (mất điện / sự cố)</a:t>
            </a:r>
          </a:p>
          <a:p>
            <a:pPr marL="285750" indent="-285750">
              <a:spcAft>
                <a:spcPts val="200"/>
              </a:spcAft>
              <a:buFont typeface="Arial" panose="020B0604020202020204" pitchFamily="34" charset="0"/>
              <a:buChar char="•"/>
            </a:pPr>
            <a:r>
              <a:rPr>
                <a:latin typeface="Lato" panose="020F0502020204030203" pitchFamily="34" charset="0"/>
                <a:ea typeface="Lato" panose="020F0502020204030203" pitchFamily="34" charset="0"/>
                <a:cs typeface="Lato" panose="020F0502020204030203" pitchFamily="34" charset="0"/>
              </a:rPr>
              <a:t>DB managed backup + PITR (Supabase); app stateless → khởi động lại là phục hồi; restart policy + health check tự khởi động lại.</a:t>
            </a:r>
          </a:p>
          <a:p>
            <a:pPr>
              <a:spcBef>
                <a:spcPts val="1000"/>
              </a:spcBef>
              <a:spcAft>
                <a:spcPts val="200"/>
              </a:spcAft>
            </a:pPr>
            <a:r>
              <a:rPr sz="2000" b="1">
                <a:latin typeface="Lato" panose="020F0502020204030203" pitchFamily="34" charset="0"/>
                <a:ea typeface="Lato" panose="020F0502020204030203" pitchFamily="34" charset="0"/>
                <a:cs typeface="Lato" panose="020F0502020204030203" pitchFamily="34" charset="0"/>
              </a:rPr>
              <a:t>Phòng chống xâm nhập</a:t>
            </a:r>
          </a:p>
          <a:p>
            <a:pPr marL="285750" indent="-285750">
              <a:spcAft>
                <a:spcPts val="200"/>
              </a:spcAft>
              <a:buFont typeface="Arial" panose="020B0604020202020204" pitchFamily="34" charset="0"/>
              <a:buChar char="•"/>
            </a:pPr>
            <a:r>
              <a:rPr>
                <a:latin typeface="Lato" panose="020F0502020204030203" pitchFamily="34" charset="0"/>
                <a:ea typeface="Lato" panose="020F0502020204030203" pitchFamily="34" charset="0"/>
                <a:cs typeface="Lato" panose="020F0502020204030203" pitchFamily="34" charset="0"/>
              </a:rPr>
              <a:t>Rate-limit theo IP (login/AI); bcrypt; JWT hết hạn + refresh; RBAC; không lộ thông tin qua thông báo lỗi; HTTPS ở production.</a:t>
            </a:r>
          </a:p>
          <a:p>
            <a:pPr>
              <a:spcBef>
                <a:spcPts val="1000"/>
              </a:spcBef>
              <a:spcAft>
                <a:spcPts val="200"/>
              </a:spcAft>
            </a:pPr>
            <a:r>
              <a:rPr sz="2000" b="1">
                <a:latin typeface="Lato" panose="020F0502020204030203" pitchFamily="34" charset="0"/>
                <a:ea typeface="Lato" panose="020F0502020204030203" pitchFamily="34" charset="0"/>
                <a:cs typeface="Lato" panose="020F0502020204030203" pitchFamily="34" charset="0"/>
              </a:rPr>
              <a:t>Điều độ (throttling)</a:t>
            </a:r>
          </a:p>
          <a:p>
            <a:pPr marL="285750" indent="-285750">
              <a:spcAft>
                <a:spcPts val="200"/>
              </a:spcAft>
              <a:buFont typeface="Arial" panose="020B0604020202020204" pitchFamily="34" charset="0"/>
              <a:buChar char="•"/>
            </a:pPr>
            <a:r>
              <a:rPr lang="en-US">
                <a:latin typeface="Lato" panose="020F0502020204030203" pitchFamily="34" charset="0"/>
                <a:ea typeface="Lato" panose="020F0502020204030203" pitchFamily="34" charset="0"/>
                <a:cs typeface="Lato" panose="020F0502020204030203" pitchFamily="34" charset="0"/>
              </a:rPr>
              <a:t>S</a:t>
            </a:r>
            <a:r>
              <a:rPr>
                <a:latin typeface="Lato" panose="020F0502020204030203" pitchFamily="34" charset="0"/>
                <a:ea typeface="Lato" panose="020F0502020204030203" pitchFamily="34" charset="0"/>
                <a:cs typeface="Lato" panose="020F0502020204030203" pitchFamily="34" charset="0"/>
              </a:rPr>
              <a:t>lowapi giới hạn số request theo IP cho auth / AI.</a:t>
            </a:r>
          </a:p>
          <a:p>
            <a:pPr>
              <a:spcBef>
                <a:spcPts val="1000"/>
              </a:spcBef>
              <a:spcAft>
                <a:spcPts val="200"/>
              </a:spcAft>
            </a:pPr>
            <a:r>
              <a:rPr sz="2000" b="1">
                <a:latin typeface="Lato" panose="020F0502020204030203" pitchFamily="34" charset="0"/>
                <a:ea typeface="Lato" panose="020F0502020204030203" pitchFamily="34" charset="0"/>
                <a:cs typeface="Lato" panose="020F0502020204030203" pitchFamily="34" charset="0"/>
              </a:rPr>
              <a:t>Cân bằng tải</a:t>
            </a:r>
          </a:p>
          <a:p>
            <a:pPr marL="285750" indent="-285750">
              <a:spcAft>
                <a:spcPts val="200"/>
              </a:spcAft>
              <a:buFont typeface="Arial" panose="020B0604020202020204" pitchFamily="34" charset="0"/>
              <a:buChar char="•"/>
            </a:pPr>
            <a:r>
              <a:rPr>
                <a:latin typeface="Lato" panose="020F0502020204030203" pitchFamily="34" charset="0"/>
                <a:ea typeface="Lato" panose="020F0502020204030203" pitchFamily="34" charset="0"/>
                <a:cs typeface="Lato" panose="020F0502020204030203" pitchFamily="34" charset="0"/>
              </a:rPr>
              <a:t>Render L</a:t>
            </a:r>
            <a:r>
              <a:rPr lang="en-US">
                <a:latin typeface="Lato" panose="020F0502020204030203" pitchFamily="34" charset="0"/>
                <a:ea typeface="Lato" panose="020F0502020204030203" pitchFamily="34" charset="0"/>
                <a:cs typeface="Lato" panose="020F0502020204030203" pitchFamily="34" charset="0"/>
              </a:rPr>
              <a:t>oadBalancer</a:t>
            </a:r>
            <a:r>
              <a:rPr>
                <a:latin typeface="Lato" panose="020F0502020204030203" pitchFamily="34" charset="0"/>
                <a:ea typeface="Lato" panose="020F0502020204030203" pitchFamily="34" charset="0"/>
                <a:cs typeface="Lato" panose="020F0502020204030203" pitchFamily="34" charset="0"/>
              </a:rPr>
              <a:t> trước backend; backend stateless → scale ngang N replica (autoscale bật khi cần — gói trả phí); tách tầng AI scale độc lập.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t>4. Kết quả</a:t>
            </a:r>
          </a:p>
        </p:txBody>
      </p:sp>
      <p:sp>
        <p:nvSpPr>
          <p:cNvPr id="2" name="Slide Number Placeholder 1">
            <a:extLst>
              <a:ext uri="{FF2B5EF4-FFF2-40B4-BE49-F238E27FC236}">
                <a16:creationId xmlns:a16="http://schemas.microsoft.com/office/drawing/2014/main" id="{6B0FC1EF-4A66-B26F-A7D9-3A843B4E4A30}"/>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extBox 3">
            <a:extLst>
              <a:ext uri="{FF2B5EF4-FFF2-40B4-BE49-F238E27FC236}">
                <a16:creationId xmlns:a16="http://schemas.microsoft.com/office/drawing/2014/main" id="{5702C2CF-69D5-E631-1E52-37D87BE73C4F}"/>
              </a:ext>
            </a:extLst>
          </p:cNvPr>
          <p:cNvSpPr txBox="1"/>
          <p:nvPr/>
        </p:nvSpPr>
        <p:spPr>
          <a:xfrm>
            <a:off x="2329688" y="744280"/>
            <a:ext cx="4643120" cy="369332"/>
          </a:xfrm>
          <a:prstGeom prst="rect">
            <a:avLst/>
          </a:prstGeom>
          <a:noFill/>
        </p:spPr>
        <p:txBody>
          <a:bodyPr wrap="square" rtlCol="0">
            <a:spAutoFit/>
          </a:bodyPr>
          <a:lstStyle/>
          <a:p>
            <a:pPr algn="ctr"/>
            <a:r>
              <a:rPr lang="en-US" b="1">
                <a:solidFill>
                  <a:schemeClr val="bg1"/>
                </a:solidFill>
                <a:latin typeface="Lato" panose="020F0502020204030203" pitchFamily="34" charset="0"/>
                <a:ea typeface="Lato" panose="020F0502020204030203" pitchFamily="34" charset="0"/>
                <a:cs typeface="Lato" panose="020F0502020204030203" pitchFamily="34" charset="0"/>
              </a:rPr>
              <a:t>Kiểm thử tải</a:t>
            </a:r>
          </a:p>
        </p:txBody>
      </p:sp>
      <p:graphicFrame>
        <p:nvGraphicFramePr>
          <p:cNvPr id="5" name="Table 4"/>
          <p:cNvGraphicFramePr>
            <a:graphicFrameLocks noGrp="1"/>
          </p:cNvGraphicFramePr>
          <p:nvPr>
            <p:extLst>
              <p:ext uri="{D42A27DB-BD31-4B8C-83A1-F6EECF244321}">
                <p14:modId xmlns:p14="http://schemas.microsoft.com/office/powerpoint/2010/main" val="3694498704"/>
              </p:ext>
            </p:extLst>
          </p:nvPr>
        </p:nvGraphicFramePr>
        <p:xfrm>
          <a:off x="320040" y="1298448"/>
          <a:ext cx="8503920" cy="4218436"/>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795527">
                <a:tc>
                  <a:txBody>
                    <a:bodyPr/>
                    <a:lstStyle/>
                    <a:p>
                      <a:r>
                        <a:rPr sz="1600" b="1">
                          <a:solidFill>
                            <a:srgbClr val="FFFFFF"/>
                          </a:solidFill>
                          <a:latin typeface="Lato" panose="020F0502020204030203" pitchFamily="34" charset="0"/>
                          <a:ea typeface="Lato" panose="020F0502020204030203" pitchFamily="34" charset="0"/>
                          <a:cs typeface="Lato" panose="020F0502020204030203" pitchFamily="34" charset="0"/>
                        </a:rPr>
                        <a:t>Hạng mục kiểm thử</a:t>
                      </a:r>
                    </a:p>
                  </a:txBody>
                  <a:tcPr marT="25400" marB="25400" anchor="ctr">
                    <a:solidFill>
                      <a:srgbClr val="4472C4"/>
                    </a:solidFill>
                  </a:tcPr>
                </a:tc>
                <a:tc>
                  <a:txBody>
                    <a:bodyPr/>
                    <a:lstStyle/>
                    <a:p>
                      <a:r>
                        <a:rPr sz="1600" b="1">
                          <a:solidFill>
                            <a:srgbClr val="FFFFFF"/>
                          </a:solidFill>
                          <a:latin typeface="Lato" panose="020F0502020204030203" pitchFamily="34" charset="0"/>
                          <a:ea typeface="Lato" panose="020F0502020204030203" pitchFamily="34" charset="0"/>
                          <a:cs typeface="Lato" panose="020F0502020204030203" pitchFamily="34" charset="0"/>
                        </a:rPr>
                        <a:t>Kịch bản</a:t>
                      </a:r>
                    </a:p>
                  </a:txBody>
                  <a:tcPr marT="25400" marB="25400" anchor="ctr">
                    <a:solidFill>
                      <a:srgbClr val="4472C4"/>
                    </a:solidFill>
                  </a:tcPr>
                </a:tc>
                <a:tc>
                  <a:txBody>
                    <a:bodyPr/>
                    <a:lstStyle/>
                    <a:p>
                      <a:r>
                        <a:rPr sz="1600" b="1">
                          <a:solidFill>
                            <a:srgbClr val="FFFFFF"/>
                          </a:solidFill>
                          <a:latin typeface="Lato" panose="020F0502020204030203" pitchFamily="34" charset="0"/>
                          <a:ea typeface="Lato" panose="020F0502020204030203" pitchFamily="34" charset="0"/>
                          <a:cs typeface="Lato" panose="020F0502020204030203" pitchFamily="34" charset="0"/>
                        </a:rPr>
                        <a:t>Kết quả (đo thật)</a:t>
                      </a:r>
                    </a:p>
                  </a:txBody>
                  <a:tcPr marT="25400" marB="25400" anchor="ctr">
                    <a:solidFill>
                      <a:srgbClr val="4472C4"/>
                    </a:solidFill>
                  </a:tcPr>
                </a:tc>
                <a:tc>
                  <a:txBody>
                    <a:bodyPr/>
                    <a:lstStyle/>
                    <a:p>
                      <a:r>
                        <a:rPr sz="1600" b="1">
                          <a:solidFill>
                            <a:srgbClr val="FFFFFF"/>
                          </a:solidFill>
                          <a:latin typeface="Lato" panose="020F0502020204030203" pitchFamily="34" charset="0"/>
                          <a:ea typeface="Lato" panose="020F0502020204030203" pitchFamily="34" charset="0"/>
                          <a:cs typeface="Lato" panose="020F0502020204030203" pitchFamily="34" charset="0"/>
                        </a:rPr>
                        <a:t>Đánh giá</a:t>
                      </a:r>
                    </a:p>
                  </a:txBody>
                  <a:tcPr marT="25400" marB="25400" anchor="ctr">
                    <a:solidFill>
                      <a:srgbClr val="4472C4"/>
                    </a:solidFill>
                  </a:tcPr>
                </a:tc>
                <a:extLst>
                  <a:ext uri="{0D108BD9-81ED-4DB2-BD59-A6C34878D82A}">
                    <a16:rowId xmlns:a16="http://schemas.microsoft.com/office/drawing/2014/main" val="10000"/>
                  </a:ext>
                </a:extLst>
              </a:tr>
              <a:tr h="795527">
                <a:tc>
                  <a:txBody>
                    <a:bodyPr/>
                    <a:lstStyle/>
                    <a:p>
                      <a:r>
                        <a:rPr sz="1600" b="1">
                          <a:solidFill>
                            <a:srgbClr val="4472C4"/>
                          </a:solidFill>
                          <a:latin typeface="Lato" panose="020F0502020204030203" pitchFamily="34" charset="0"/>
                          <a:ea typeface="Lato" panose="020F0502020204030203" pitchFamily="34" charset="0"/>
                          <a:cs typeface="Lato" panose="020F0502020204030203" pitchFamily="34" charset="0"/>
                        </a:rPr>
                        <a:t>Kiểm thử tải</a:t>
                      </a:r>
                    </a:p>
                    <a:p>
                      <a:r>
                        <a:rPr sz="1600">
                          <a:latin typeface="Lato" panose="020F0502020204030203" pitchFamily="34" charset="0"/>
                          <a:ea typeface="Lato" panose="020F0502020204030203" pitchFamily="34" charset="0"/>
                          <a:cs typeface="Lato" panose="020F0502020204030203" pitchFamily="34" charset="0"/>
                        </a:rPr>
                        <a:t>(trong ngưỡng)</a:t>
                      </a:r>
                    </a:p>
                  </a:txBody>
                  <a:tcPr marT="25400" marB="25400" anchor="ctr">
                    <a:solidFill>
                      <a:srgbClr val="FFFFFF"/>
                    </a:solidFill>
                  </a:tcPr>
                </a:tc>
                <a:tc>
                  <a:txBody>
                    <a:bodyPr/>
                    <a:lstStyle/>
                    <a:p>
                      <a:r>
                        <a:rPr sz="1600" b="0">
                          <a:solidFill>
                            <a:srgbClr val="44546A"/>
                          </a:solidFill>
                          <a:latin typeface="Lato" panose="020F0502020204030203" pitchFamily="34" charset="0"/>
                          <a:ea typeface="Lato" panose="020F0502020204030203" pitchFamily="34" charset="0"/>
                          <a:cs typeface="Lato" panose="020F0502020204030203" pitchFamily="34" charset="0"/>
                        </a:rPr>
                        <a:t>≤ 15 người dùng đồng thời, 60s (Locust)</a:t>
                      </a:r>
                    </a:p>
                  </a:txBody>
                  <a:tcPr marT="25400" marB="25400" anchor="ctr">
                    <a:solidFill>
                      <a:srgbClr val="FFFFFF"/>
                    </a:solidFill>
                  </a:tcPr>
                </a:tc>
                <a:tc>
                  <a:txBody>
                    <a:bodyPr/>
                    <a:lstStyle/>
                    <a:p>
                      <a:r>
                        <a:rPr sz="1600" b="0">
                          <a:solidFill>
                            <a:srgbClr val="44546A"/>
                          </a:solidFill>
                          <a:latin typeface="Lato" panose="020F0502020204030203" pitchFamily="34" charset="0"/>
                          <a:ea typeface="Lato" panose="020F0502020204030203" pitchFamily="34" charset="0"/>
                          <a:cs typeface="Lato" panose="020F0502020204030203" pitchFamily="34" charset="0"/>
                        </a:rPr>
                        <a:t>0% lỗi · p50 ~0,7s · p95 ~1,9s · ~15 req/s</a:t>
                      </a:r>
                    </a:p>
                  </a:txBody>
                  <a:tcPr marT="25400" marB="25400" anchor="ctr">
                    <a:solidFill>
                      <a:srgbClr val="FFFFFF"/>
                    </a:solidFill>
                  </a:tcPr>
                </a:tc>
                <a:tc>
                  <a:txBody>
                    <a:bodyPr/>
                    <a:lstStyle/>
                    <a:p>
                      <a:r>
                        <a:rPr sz="1600" b="0">
                          <a:solidFill>
                            <a:srgbClr val="44546A"/>
                          </a:solidFill>
                          <a:latin typeface="Lato" panose="020F0502020204030203" pitchFamily="34" charset="0"/>
                          <a:ea typeface="Lato" panose="020F0502020204030203" pitchFamily="34" charset="0"/>
                          <a:cs typeface="Lato" panose="020F0502020204030203" pitchFamily="34" charset="0"/>
                        </a:rPr>
                        <a:t>Ổn định trong giới hạn gói miễn phí</a:t>
                      </a:r>
                    </a:p>
                  </a:txBody>
                  <a:tcPr marT="25400" marB="25400" anchor="ctr">
                    <a:solidFill>
                      <a:srgbClr val="FFFFFF"/>
                    </a:solidFill>
                  </a:tcPr>
                </a:tc>
                <a:extLst>
                  <a:ext uri="{0D108BD9-81ED-4DB2-BD59-A6C34878D82A}">
                    <a16:rowId xmlns:a16="http://schemas.microsoft.com/office/drawing/2014/main" val="10001"/>
                  </a:ext>
                </a:extLst>
              </a:tr>
              <a:tr h="795527">
                <a:tc>
                  <a:txBody>
                    <a:bodyPr/>
                    <a:lstStyle/>
                    <a:p>
                      <a:r>
                        <a:rPr sz="1600" b="1">
                          <a:solidFill>
                            <a:srgbClr val="4472C4"/>
                          </a:solidFill>
                          <a:latin typeface="Lato" panose="020F0502020204030203" pitchFamily="34" charset="0"/>
                          <a:ea typeface="Lato" panose="020F0502020204030203" pitchFamily="34" charset="0"/>
                          <a:cs typeface="Lato" panose="020F0502020204030203" pitchFamily="34" charset="0"/>
                        </a:rPr>
                        <a:t>Kiểm thử khả năng chịu tải</a:t>
                      </a:r>
                    </a:p>
                  </a:txBody>
                  <a:tcPr marT="25400" marB="25400" anchor="ctr">
                    <a:solidFill>
                      <a:srgbClr val="FFFFFF"/>
                    </a:solidFill>
                  </a:tcPr>
                </a:tc>
                <a:tc>
                  <a:txBody>
                    <a:bodyPr/>
                    <a:lstStyle/>
                    <a:p>
                      <a:r>
                        <a:rPr sz="1600" b="0">
                          <a:solidFill>
                            <a:srgbClr val="44546A"/>
                          </a:solidFill>
                          <a:latin typeface="Lato" panose="020F0502020204030203" pitchFamily="34" charset="0"/>
                          <a:ea typeface="Lato" panose="020F0502020204030203" pitchFamily="34" charset="0"/>
                          <a:cs typeface="Lato" panose="020F0502020204030203" pitchFamily="34" charset="0"/>
                        </a:rPr>
                        <a:t>Tăng dần số người đồng thời để tìm giới hạn</a:t>
                      </a:r>
                    </a:p>
                  </a:txBody>
                  <a:tcPr marT="25400" marB="25400" anchor="ctr">
                    <a:solidFill>
                      <a:srgbClr val="FFFFFF"/>
                    </a:solidFill>
                  </a:tcPr>
                </a:tc>
                <a:tc>
                  <a:txBody>
                    <a:bodyPr/>
                    <a:lstStyle/>
                    <a:p>
                      <a:r>
                        <a:rPr sz="1600" b="0">
                          <a:solidFill>
                            <a:srgbClr val="44546A"/>
                          </a:solidFill>
                          <a:latin typeface="Lato" panose="020F0502020204030203" pitchFamily="34" charset="0"/>
                          <a:ea typeface="Lato" panose="020F0502020204030203" pitchFamily="34" charset="0"/>
                          <a:cs typeface="Lato" panose="020F0502020204030203" pitchFamily="34" charset="0"/>
                        </a:rPr>
                        <a:t>Bão hòa ~15 kết nối đồng thời; từ 16 người bắt đầu có lỗi (3%)</a:t>
                      </a:r>
                    </a:p>
                  </a:txBody>
                  <a:tcPr marT="25400" marB="25400" anchor="ctr">
                    <a:solidFill>
                      <a:srgbClr val="FFFFFF"/>
                    </a:solidFill>
                  </a:tcPr>
                </a:tc>
                <a:tc>
                  <a:txBody>
                    <a:bodyPr/>
                    <a:lstStyle/>
                    <a:p>
                      <a:r>
                        <a:rPr sz="1600" b="0">
                          <a:solidFill>
                            <a:srgbClr val="44546A"/>
                          </a:solidFill>
                          <a:latin typeface="Lato" panose="020F0502020204030203" pitchFamily="34" charset="0"/>
                          <a:ea typeface="Lato" panose="020F0502020204030203" pitchFamily="34" charset="0"/>
                          <a:cs typeface="Lato" panose="020F0502020204030203" pitchFamily="34" charset="0"/>
                        </a:rPr>
                        <a:t>Trần = giới hạn pooler Supabase (gói free), không phải kiến trúc</a:t>
                      </a:r>
                    </a:p>
                  </a:txBody>
                  <a:tcPr marT="25400" marB="25400" anchor="ctr">
                    <a:solidFill>
                      <a:srgbClr val="FFFFFF"/>
                    </a:solidFill>
                  </a:tcPr>
                </a:tc>
                <a:extLst>
                  <a:ext uri="{0D108BD9-81ED-4DB2-BD59-A6C34878D82A}">
                    <a16:rowId xmlns:a16="http://schemas.microsoft.com/office/drawing/2014/main" val="10002"/>
                  </a:ext>
                </a:extLst>
              </a:tr>
              <a:tr h="795527">
                <a:tc>
                  <a:txBody>
                    <a:bodyPr/>
                    <a:lstStyle/>
                    <a:p>
                      <a:r>
                        <a:rPr sz="1600" b="1">
                          <a:solidFill>
                            <a:srgbClr val="4472C4"/>
                          </a:solidFill>
                          <a:latin typeface="Lato" panose="020F0502020204030203" pitchFamily="34" charset="0"/>
                          <a:ea typeface="Lato" panose="020F0502020204030203" pitchFamily="34" charset="0"/>
                          <a:cs typeface="Lato" panose="020F0502020204030203" pitchFamily="34" charset="0"/>
                        </a:rPr>
                        <a:t>Kiểm thử quá tải</a:t>
                      </a:r>
                    </a:p>
                    <a:p>
                      <a:r>
                        <a:rPr sz="1600">
                          <a:latin typeface="Lato" panose="020F0502020204030203" pitchFamily="34" charset="0"/>
                          <a:ea typeface="Lato" panose="020F0502020204030203" pitchFamily="34" charset="0"/>
                          <a:cs typeface="Lato" panose="020F0502020204030203" pitchFamily="34" charset="0"/>
                        </a:rPr>
                        <a:t>(áp lực)</a:t>
                      </a:r>
                    </a:p>
                  </a:txBody>
                  <a:tcPr marT="25400" marB="25400" anchor="ctr">
                    <a:solidFill>
                      <a:srgbClr val="FFFFFF"/>
                    </a:solidFill>
                  </a:tcPr>
                </a:tc>
                <a:tc>
                  <a:txBody>
                    <a:bodyPr/>
                    <a:lstStyle/>
                    <a:p>
                      <a:r>
                        <a:rPr sz="1600" b="0">
                          <a:solidFill>
                            <a:srgbClr val="44546A"/>
                          </a:solidFill>
                          <a:latin typeface="Lato" panose="020F0502020204030203" pitchFamily="34" charset="0"/>
                          <a:ea typeface="Lato" panose="020F0502020204030203" pitchFamily="34" charset="0"/>
                          <a:cs typeface="Lato" panose="020F0502020204030203" pitchFamily="34" charset="0"/>
                        </a:rPr>
                        <a:t>50 người dùng đồng thời</a:t>
                      </a:r>
                    </a:p>
                  </a:txBody>
                  <a:tcPr marT="25400" marB="25400" anchor="ctr">
                    <a:solidFill>
                      <a:srgbClr val="FFFFFF"/>
                    </a:solidFill>
                  </a:tcPr>
                </a:tc>
                <a:tc>
                  <a:txBody>
                    <a:bodyPr/>
                    <a:lstStyle/>
                    <a:p>
                      <a:r>
                        <a:rPr sz="1600" b="0">
                          <a:solidFill>
                            <a:srgbClr val="44546A"/>
                          </a:solidFill>
                          <a:latin typeface="Lato" panose="020F0502020204030203" pitchFamily="34" charset="0"/>
                          <a:ea typeface="Lato" panose="020F0502020204030203" pitchFamily="34" charset="0"/>
                          <a:cs typeface="Lato" panose="020F0502020204030203" pitchFamily="34" charset="0"/>
                        </a:rPr>
                        <a:t>~20 req/s; ~30% lỗi 500 do vượt trần kết nối DB</a:t>
                      </a:r>
                    </a:p>
                  </a:txBody>
                  <a:tcPr marT="25400" marB="25400" anchor="ctr">
                    <a:solidFill>
                      <a:srgbClr val="FFFFFF"/>
                    </a:solidFill>
                  </a:tcPr>
                </a:tc>
                <a:tc>
                  <a:txBody>
                    <a:bodyPr/>
                    <a:lstStyle/>
                    <a:p>
                      <a:r>
                        <a:rPr sz="1600" b="0">
                          <a:solidFill>
                            <a:srgbClr val="44546A"/>
                          </a:solidFill>
                          <a:latin typeface="Lato" panose="020F0502020204030203" pitchFamily="34" charset="0"/>
                          <a:ea typeface="Lato" panose="020F0502020204030203" pitchFamily="34" charset="0"/>
                          <a:cs typeface="Lato" panose="020F0502020204030203" pitchFamily="34" charset="0"/>
                        </a:rPr>
                        <a:t>Vượt ngưỡng free tier → cần nâng pool / scale ngang</a:t>
                      </a:r>
                    </a:p>
                  </a:txBody>
                  <a:tcPr marT="25400" marB="25400" anchor="ctr">
                    <a:solidFill>
                      <a:srgbClr val="FFFFFF"/>
                    </a:solidFill>
                  </a:tcPr>
                </a:tc>
                <a:extLst>
                  <a:ext uri="{0D108BD9-81ED-4DB2-BD59-A6C34878D82A}">
                    <a16:rowId xmlns:a16="http://schemas.microsoft.com/office/drawing/2014/main" val="10003"/>
                  </a:ext>
                </a:extLst>
              </a:tr>
              <a:tr h="805695">
                <a:tc>
                  <a:txBody>
                    <a:bodyPr/>
                    <a:lstStyle/>
                    <a:p>
                      <a:r>
                        <a:rPr sz="1600" b="1">
                          <a:solidFill>
                            <a:srgbClr val="4472C4"/>
                          </a:solidFill>
                          <a:latin typeface="Lato" panose="020F0502020204030203" pitchFamily="34" charset="0"/>
                          <a:ea typeface="Lato" panose="020F0502020204030203" pitchFamily="34" charset="0"/>
                          <a:cs typeface="Lato" panose="020F0502020204030203" pitchFamily="34" charset="0"/>
                        </a:rPr>
                        <a:t>Tổng kết</a:t>
                      </a:r>
                    </a:p>
                  </a:txBody>
                  <a:tcPr marT="25400" marB="25400" anchor="ctr">
                    <a:solidFill>
                      <a:srgbClr val="FFFFFF"/>
                    </a:solidFill>
                  </a:tcPr>
                </a:tc>
                <a:tc>
                  <a:txBody>
                    <a:bodyPr/>
                    <a:lstStyle/>
                    <a:p>
                      <a:endParaRPr sz="1600" b="1">
                        <a:solidFill>
                          <a:srgbClr val="44546A"/>
                        </a:solidFill>
                        <a:latin typeface="Lato" panose="020F0502020204030203" pitchFamily="34" charset="0"/>
                        <a:ea typeface="Lato" panose="020F0502020204030203" pitchFamily="34" charset="0"/>
                        <a:cs typeface="Lato" panose="020F0502020204030203" pitchFamily="34" charset="0"/>
                      </a:endParaRPr>
                    </a:p>
                  </a:txBody>
                  <a:tcPr marT="25400" marB="25400" anchor="ctr">
                    <a:solidFill>
                      <a:srgbClr val="FFFFFF"/>
                    </a:solidFill>
                  </a:tcPr>
                </a:tc>
                <a:tc>
                  <a:txBody>
                    <a:bodyPr/>
                    <a:lstStyle/>
                    <a:p>
                      <a:r>
                        <a:rPr sz="1600" b="1">
                          <a:solidFill>
                            <a:srgbClr val="44546A"/>
                          </a:solidFill>
                          <a:latin typeface="Lato" panose="020F0502020204030203" pitchFamily="34" charset="0"/>
                          <a:ea typeface="Lato" panose="020F0502020204030203" pitchFamily="34" charset="0"/>
                          <a:cs typeface="Lato" panose="020F0502020204030203" pitchFamily="34" charset="0"/>
                        </a:rPr>
                        <a:t>Ngưỡng an toàn ~15 người; nghẽn nằm ở tầng DB gói free</a:t>
                      </a:r>
                    </a:p>
                  </a:txBody>
                  <a:tcPr marT="25400" marB="25400" anchor="ctr">
                    <a:solidFill>
                      <a:srgbClr val="FFFFFF"/>
                    </a:solidFill>
                  </a:tcPr>
                </a:tc>
                <a:tc>
                  <a:txBody>
                    <a:bodyPr/>
                    <a:lstStyle/>
                    <a:p>
                      <a:r>
                        <a:rPr lang="en-US" sz="1600" b="1">
                          <a:solidFill>
                            <a:srgbClr val="44546A"/>
                          </a:solidFill>
                          <a:latin typeface="Lato" panose="020F0502020204030203" pitchFamily="34" charset="0"/>
                          <a:ea typeface="Lato" panose="020F0502020204030203" pitchFamily="34" charset="0"/>
                          <a:cs typeface="Lato" panose="020F0502020204030203" pitchFamily="34" charset="0"/>
                        </a:rPr>
                        <a:t>Cải thiện</a:t>
                      </a:r>
                      <a:r>
                        <a:rPr sz="1600" b="1">
                          <a:solidFill>
                            <a:srgbClr val="44546A"/>
                          </a:solidFill>
                          <a:latin typeface="Lato" panose="020F0502020204030203" pitchFamily="34" charset="0"/>
                          <a:ea typeface="Lato" panose="020F0502020204030203" pitchFamily="34" charset="0"/>
                          <a:cs typeface="Lato" panose="020F0502020204030203" pitchFamily="34" charset="0"/>
                        </a:rPr>
                        <a:t> bằng: nâng pool (trả phí)</a:t>
                      </a:r>
                      <a:r>
                        <a:rPr lang="en-US" sz="1600" b="1">
                          <a:solidFill>
                            <a:srgbClr val="44546A"/>
                          </a:solidFill>
                          <a:latin typeface="Lato" panose="020F0502020204030203" pitchFamily="34" charset="0"/>
                          <a:ea typeface="Lato" panose="020F0502020204030203" pitchFamily="34" charset="0"/>
                          <a:cs typeface="Lato" panose="020F0502020204030203" pitchFamily="34" charset="0"/>
                        </a:rPr>
                        <a:t>; </a:t>
                      </a:r>
                      <a:r>
                        <a:rPr sz="1600" b="1">
                          <a:solidFill>
                            <a:srgbClr val="44546A"/>
                          </a:solidFill>
                          <a:latin typeface="Lato" panose="020F0502020204030203" pitchFamily="34" charset="0"/>
                          <a:ea typeface="Lato" panose="020F0502020204030203" pitchFamily="34" charset="0"/>
                          <a:cs typeface="Lato" panose="020F0502020204030203" pitchFamily="34" charset="0"/>
                        </a:rPr>
                        <a:t>scale ngang stateless</a:t>
                      </a:r>
                    </a:p>
                  </a:txBody>
                  <a:tcPr marT="25400" marB="25400"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0CE61-3AD1-96BC-32C7-14BFE4FE43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DE547D-B65D-A618-BA69-38237A4FD605}"/>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3" name="Content Placeholder 2">
            <a:extLst>
              <a:ext uri="{FF2B5EF4-FFF2-40B4-BE49-F238E27FC236}">
                <a16:creationId xmlns:a16="http://schemas.microsoft.com/office/drawing/2014/main" id="{0EB787FB-F85E-5331-B86B-985DA06B00E3}"/>
              </a:ext>
            </a:extLst>
          </p:cNvPr>
          <p:cNvSpPr>
            <a:spLocks noGrp="1"/>
          </p:cNvSpPr>
          <p:nvPr>
            <p:ph sz="half" idx="1"/>
          </p:nvPr>
        </p:nvSpPr>
        <p:spPr>
          <a:xfrm>
            <a:off x="386588" y="1423289"/>
            <a:ext cx="8127492" cy="4351338"/>
          </a:xfrm>
        </p:spPr>
        <p:txBody>
          <a:bodyPr/>
          <a:lstStyle/>
          <a:p>
            <a:r>
              <a:rPr lang="vi-VN" sz="2000"/>
              <a:t>Đóng góp nổi bật:</a:t>
            </a:r>
          </a:p>
          <a:p>
            <a:pPr lvl="1"/>
            <a:r>
              <a:rPr lang="vi-VN" sz="2000"/>
              <a:t>Quy trình liền mạch: chụp ảnh → công thức → nấu → kế hoạch</a:t>
            </a:r>
          </a:p>
          <a:p>
            <a:pPr lvl="1"/>
            <a:r>
              <a:rPr lang="vi-VN" sz="2000"/>
              <a:t>Ràng buộc nhất quán nhận diện – kho công thức; nhận diện hai tầng</a:t>
            </a:r>
          </a:p>
          <a:p>
            <a:r>
              <a:rPr lang="vi-VN" sz="2000"/>
              <a:t>Hạn chế: </a:t>
            </a:r>
            <a:endParaRPr lang="en-US" sz="2000"/>
          </a:p>
          <a:p>
            <a:pPr lvl="1"/>
            <a:r>
              <a:rPr lang="en-US" sz="2000"/>
              <a:t>Công thức nấu ăn còn hạn chế chỉ bao phủ được 47 món, chỉ có 1 nguồn để cào công thức (monngonmoingay.com)</a:t>
            </a:r>
          </a:p>
          <a:p>
            <a:pPr lvl="1"/>
            <a:r>
              <a:rPr lang="en-US" sz="2000"/>
              <a:t>Mô hình AI chỉ giới hạn nhận diện 103 món, chưa bao phủ được hết các món ăn Việt</a:t>
            </a:r>
          </a:p>
          <a:p>
            <a:pPr lvl="1"/>
            <a:r>
              <a:rPr lang="en-US" sz="2000"/>
              <a:t>Hạ tầng dựa trên gói miễn phí , ngưỡng an toàn ~ 15 người đồng thời</a:t>
            </a:r>
            <a:endParaRPr lang="vi-VN" sz="2000"/>
          </a:p>
        </p:txBody>
      </p:sp>
      <p:sp>
        <p:nvSpPr>
          <p:cNvPr id="5" name="Title 4">
            <a:extLst>
              <a:ext uri="{FF2B5EF4-FFF2-40B4-BE49-F238E27FC236}">
                <a16:creationId xmlns:a16="http://schemas.microsoft.com/office/drawing/2014/main" id="{F2E24E10-6F09-AC86-2FE0-4F356074B26B}"/>
              </a:ext>
            </a:extLst>
          </p:cNvPr>
          <p:cNvSpPr>
            <a:spLocks noGrp="1"/>
          </p:cNvSpPr>
          <p:nvPr>
            <p:ph type="title"/>
          </p:nvPr>
        </p:nvSpPr>
        <p:spPr/>
        <p:txBody>
          <a:bodyPr/>
          <a:lstStyle/>
          <a:p>
            <a:r>
              <a:rPr lang="en-US"/>
              <a:t>5. </a:t>
            </a:r>
            <a:r>
              <a:rPr lang="vi-VN"/>
              <a:t>Kết luận</a:t>
            </a:r>
            <a:endParaRPr lang="en-US"/>
          </a:p>
        </p:txBody>
      </p:sp>
    </p:spTree>
    <p:extLst>
      <p:ext uri="{BB962C8B-B14F-4D97-AF65-F5344CB8AC3E}">
        <p14:creationId xmlns:p14="http://schemas.microsoft.com/office/powerpoint/2010/main" val="700200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4D0B4-79C8-788F-E7C3-F6C2C1E197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A6D77D-DFB6-0FDE-999F-F07EF220DCB6}"/>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3" name="Content Placeholder 2">
            <a:extLst>
              <a:ext uri="{FF2B5EF4-FFF2-40B4-BE49-F238E27FC236}">
                <a16:creationId xmlns:a16="http://schemas.microsoft.com/office/drawing/2014/main" id="{5467F9E0-D2C4-066A-2A64-2CB76EEACE8F}"/>
              </a:ext>
            </a:extLst>
          </p:cNvPr>
          <p:cNvSpPr>
            <a:spLocks noGrp="1"/>
          </p:cNvSpPr>
          <p:nvPr>
            <p:ph sz="half" idx="1"/>
          </p:nvPr>
        </p:nvSpPr>
        <p:spPr>
          <a:xfrm>
            <a:off x="386588" y="1423289"/>
            <a:ext cx="8279892" cy="4351338"/>
          </a:xfrm>
        </p:spPr>
        <p:txBody>
          <a:bodyPr/>
          <a:lstStyle/>
          <a:p>
            <a:r>
              <a:rPr lang="vi-VN" sz="2400"/>
              <a:t>Mở rộng khả năng chịu tải &amp; hiệu năng:</a:t>
            </a:r>
          </a:p>
          <a:p>
            <a:pPr lvl="1"/>
            <a:r>
              <a:rPr lang="vi-VN" sz="2000"/>
              <a:t>Nâng gói hạ tầng: tăng pool/tier Supabase, bật Render autoscale nhiều replica (backend đã stateless)</a:t>
            </a:r>
          </a:p>
          <a:p>
            <a:pPr lvl="1"/>
            <a:r>
              <a:rPr lang="vi-VN" sz="2000"/>
              <a:t>Cache đọc nóng (Redis/Upstash) cho featured/danh sách → giảm tải DB, phá điểm nghẽn</a:t>
            </a:r>
            <a:endParaRPr lang="en-US" sz="2000"/>
          </a:p>
          <a:p>
            <a:r>
              <a:rPr lang="vi-VN" sz="2400"/>
              <a:t>Phát triển tính năng:</a:t>
            </a:r>
          </a:p>
          <a:p>
            <a:pPr lvl="1"/>
            <a:r>
              <a:rPr lang="en-US" sz="2000"/>
              <a:t>Phát triển hệ thống trên app cho điện thoại</a:t>
            </a:r>
            <a:endParaRPr lang="vi-VN" sz="2000"/>
          </a:p>
          <a:p>
            <a:pPr lvl="1"/>
            <a:r>
              <a:rPr lang="vi-VN" sz="2000"/>
              <a:t>Blog cộng đồng có kiểm duyệt; cá nhân hóa theo nhu cầu dinh dưỡng</a:t>
            </a:r>
          </a:p>
          <a:p>
            <a:pPr lvl="1"/>
            <a:r>
              <a:rPr lang="vi-VN" sz="2000"/>
              <a:t>Thay/kết hợp mô hình nhận diện bằng API đa phương thức (OpenAI/Gemini)</a:t>
            </a:r>
          </a:p>
        </p:txBody>
      </p:sp>
      <p:sp>
        <p:nvSpPr>
          <p:cNvPr id="5" name="Title 4">
            <a:extLst>
              <a:ext uri="{FF2B5EF4-FFF2-40B4-BE49-F238E27FC236}">
                <a16:creationId xmlns:a16="http://schemas.microsoft.com/office/drawing/2014/main" id="{0EA509D7-C6DE-9DA5-2974-733328A4250D}"/>
              </a:ext>
            </a:extLst>
          </p:cNvPr>
          <p:cNvSpPr>
            <a:spLocks noGrp="1"/>
          </p:cNvSpPr>
          <p:nvPr>
            <p:ph type="title"/>
          </p:nvPr>
        </p:nvSpPr>
        <p:spPr/>
        <p:txBody>
          <a:bodyPr/>
          <a:lstStyle/>
          <a:p>
            <a:r>
              <a:rPr lang="en-US"/>
              <a:t>6. </a:t>
            </a:r>
            <a:r>
              <a:rPr lang="vi-VN"/>
              <a:t>Hướng phát triển</a:t>
            </a:r>
            <a:endParaRPr lang="en-US"/>
          </a:p>
        </p:txBody>
      </p:sp>
    </p:spTree>
    <p:extLst>
      <p:ext uri="{BB962C8B-B14F-4D97-AF65-F5344CB8AC3E}">
        <p14:creationId xmlns:p14="http://schemas.microsoft.com/office/powerpoint/2010/main" val="3007780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083A3-ECC0-2010-8EB5-CC92DA20B00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6E41FF-D04C-1FA4-4650-15BD8EFBD61E}"/>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Content Placeholder 2">
            <a:extLst>
              <a:ext uri="{FF2B5EF4-FFF2-40B4-BE49-F238E27FC236}">
                <a16:creationId xmlns:a16="http://schemas.microsoft.com/office/drawing/2014/main" id="{0AA0E147-7D85-6CA8-C181-E6ABAA88C381}"/>
              </a:ext>
            </a:extLst>
          </p:cNvPr>
          <p:cNvSpPr>
            <a:spLocks noGrp="1"/>
          </p:cNvSpPr>
          <p:nvPr>
            <p:ph sz="half" idx="1"/>
          </p:nvPr>
        </p:nvSpPr>
        <p:spPr>
          <a:xfrm>
            <a:off x="386588" y="1423289"/>
            <a:ext cx="8279892" cy="451739"/>
          </a:xfrm>
        </p:spPr>
        <p:txBody>
          <a:bodyPr/>
          <a:lstStyle/>
          <a:p>
            <a:pPr marL="0" indent="0" algn="ctr">
              <a:buNone/>
            </a:pPr>
            <a:r>
              <a:rPr lang="vi-VN" sz="2400"/>
              <a:t>https://tasty-vietnam.vercel.app/</a:t>
            </a:r>
            <a:endParaRPr lang="vi-VN" sz="2000"/>
          </a:p>
        </p:txBody>
      </p:sp>
      <p:sp>
        <p:nvSpPr>
          <p:cNvPr id="5" name="Title 4">
            <a:extLst>
              <a:ext uri="{FF2B5EF4-FFF2-40B4-BE49-F238E27FC236}">
                <a16:creationId xmlns:a16="http://schemas.microsoft.com/office/drawing/2014/main" id="{44F2F154-8197-26A9-070C-F24B8ED52264}"/>
              </a:ext>
            </a:extLst>
          </p:cNvPr>
          <p:cNvSpPr>
            <a:spLocks noGrp="1"/>
          </p:cNvSpPr>
          <p:nvPr>
            <p:ph type="title"/>
          </p:nvPr>
        </p:nvSpPr>
        <p:spPr/>
        <p:txBody>
          <a:bodyPr/>
          <a:lstStyle/>
          <a:p>
            <a:r>
              <a:rPr lang="en-US"/>
              <a:t>Link Demo</a:t>
            </a:r>
          </a:p>
        </p:txBody>
      </p:sp>
      <p:pic>
        <p:nvPicPr>
          <p:cNvPr id="6" name="Picture 5">
            <a:extLst>
              <a:ext uri="{FF2B5EF4-FFF2-40B4-BE49-F238E27FC236}">
                <a16:creationId xmlns:a16="http://schemas.microsoft.com/office/drawing/2014/main" id="{1D236D27-0917-BBF4-0D48-E7C4AB39DD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0599" y="2000249"/>
            <a:ext cx="4441191" cy="4441191"/>
          </a:xfrm>
          <a:prstGeom prst="rect">
            <a:avLst/>
          </a:prstGeom>
        </p:spPr>
      </p:pic>
    </p:spTree>
    <p:extLst>
      <p:ext uri="{BB962C8B-B14F-4D97-AF65-F5344CB8AC3E}">
        <p14:creationId xmlns:p14="http://schemas.microsoft.com/office/powerpoint/2010/main" val="13814430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t>THANK YOU!</a:t>
            </a:r>
            <a:endParaRPr lang="en-US" sz="4800" dirty="0"/>
          </a:p>
        </p:txBody>
      </p:sp>
    </p:spTree>
    <p:extLst>
      <p:ext uri="{BB962C8B-B14F-4D97-AF65-F5344CB8AC3E}">
        <p14:creationId xmlns:p14="http://schemas.microsoft.com/office/powerpoint/2010/main" val="2830535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011FC-9CAF-4FC2-4EBF-9755BF3AC9D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CF3EF0-96B3-F213-874A-7FC89A841CCD}"/>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3" name="Content Placeholder 2">
            <a:extLst>
              <a:ext uri="{FF2B5EF4-FFF2-40B4-BE49-F238E27FC236}">
                <a16:creationId xmlns:a16="http://schemas.microsoft.com/office/drawing/2014/main" id="{ECFCE8A9-B0A4-829F-0B99-0F7EF0D00A61}"/>
              </a:ext>
            </a:extLst>
          </p:cNvPr>
          <p:cNvSpPr>
            <a:spLocks noGrp="1"/>
          </p:cNvSpPr>
          <p:nvPr>
            <p:ph sz="half" idx="1"/>
          </p:nvPr>
        </p:nvSpPr>
        <p:spPr>
          <a:xfrm>
            <a:off x="296403" y="1604030"/>
            <a:ext cx="7599680" cy="4351338"/>
          </a:xfrm>
        </p:spPr>
        <p:txBody>
          <a:bodyPr/>
          <a:lstStyle/>
          <a:p>
            <a:r>
              <a:rPr lang="vi-VN" sz="2000"/>
              <a:t>Dữ liệu: bộ VNFood (train/val/test</a:t>
            </a:r>
            <a:r>
              <a:rPr lang="en-US" sz="2000"/>
              <a:t>: 34456/7383/7384 ảnh</a:t>
            </a:r>
            <a:r>
              <a:rPr lang="vi-VN" sz="2000"/>
              <a:t>), 103 lớp / 8 nhóm.</a:t>
            </a:r>
          </a:p>
          <a:p>
            <a:r>
              <a:rPr lang="vi-VN" sz="2000"/>
              <a:t>Điều kiện huấn luyện :</a:t>
            </a:r>
          </a:p>
          <a:p>
            <a:pPr lvl="1"/>
            <a:r>
              <a:rPr lang="vi-VN" sz="1600"/>
              <a:t>AdamW + CosineAnnealingLR; CrossEntropy có label smoothing; batch 32</a:t>
            </a:r>
          </a:p>
          <a:p>
            <a:pPr lvl="1"/>
            <a:r>
              <a:rPr lang="vi-VN" sz="1600"/>
              <a:t>Fine-tuning 3 pha: head (5 ep, 1e-3) → mở khối trên (10 ep, 1e-4) → toàn mạng (15 ep, 5e-5)</a:t>
            </a:r>
          </a:p>
          <a:p>
            <a:pPr lvl="1"/>
            <a:r>
              <a:rPr lang="vi-VN" sz="1600"/>
              <a:t>Tăng cường ảnh: RandomResizedCrop, HorizontalFlip, ColorJitter; chuẩn hóa ImageNet</a:t>
            </a:r>
          </a:p>
          <a:p>
            <a:pPr lvl="1"/>
            <a:r>
              <a:rPr lang="vi-VN" sz="1600"/>
              <a:t>Trọng số khởi tạo từ ImageNet</a:t>
            </a:r>
          </a:p>
        </p:txBody>
      </p:sp>
      <p:sp>
        <p:nvSpPr>
          <p:cNvPr id="5" name="Title 4">
            <a:extLst>
              <a:ext uri="{FF2B5EF4-FFF2-40B4-BE49-F238E27FC236}">
                <a16:creationId xmlns:a16="http://schemas.microsoft.com/office/drawing/2014/main" id="{C1651C08-68E2-58AD-6828-AC455B0B54C3}"/>
              </a:ext>
            </a:extLst>
          </p:cNvPr>
          <p:cNvSpPr>
            <a:spLocks noGrp="1"/>
          </p:cNvSpPr>
          <p:nvPr>
            <p:ph type="title"/>
          </p:nvPr>
        </p:nvSpPr>
        <p:spPr>
          <a:xfrm>
            <a:off x="235076" y="78613"/>
            <a:ext cx="8827643" cy="451739"/>
          </a:xfrm>
        </p:spPr>
        <p:txBody>
          <a:bodyPr/>
          <a:lstStyle/>
          <a:p>
            <a:r>
              <a:rPr lang="en-US"/>
              <a:t>Thiết lập thực nghiệm</a:t>
            </a:r>
          </a:p>
        </p:txBody>
      </p:sp>
    </p:spTree>
    <p:extLst>
      <p:ext uri="{BB962C8B-B14F-4D97-AF65-F5344CB8AC3E}">
        <p14:creationId xmlns:p14="http://schemas.microsoft.com/office/powerpoint/2010/main" val="2290841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5D056-A815-C30A-CC0E-3DDFD4D513B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B39789-9CDF-608D-8679-ED5D3DD798A1}"/>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3" name="Content Placeholder 2">
            <a:extLst>
              <a:ext uri="{FF2B5EF4-FFF2-40B4-BE49-F238E27FC236}">
                <a16:creationId xmlns:a16="http://schemas.microsoft.com/office/drawing/2014/main" id="{211B30E1-2FA8-6AB7-CD54-BAFEB6B23A4C}"/>
              </a:ext>
            </a:extLst>
          </p:cNvPr>
          <p:cNvSpPr>
            <a:spLocks noGrp="1"/>
          </p:cNvSpPr>
          <p:nvPr>
            <p:ph sz="half" idx="1"/>
          </p:nvPr>
        </p:nvSpPr>
        <p:spPr>
          <a:xfrm>
            <a:off x="296403" y="1604030"/>
            <a:ext cx="7599680" cy="4351338"/>
          </a:xfrm>
        </p:spPr>
        <p:txBody>
          <a:bodyPr/>
          <a:lstStyle/>
          <a:p>
            <a:r>
              <a:rPr lang="vi-VN" sz="2000"/>
              <a:t>Tầng 1 — Bộ phân loại NHÓM:</a:t>
            </a:r>
          </a:p>
          <a:p>
            <a:pPr lvl="1"/>
            <a:r>
              <a:rPr lang="vi-VN" sz="1600"/>
              <a:t>EfficientNet-B0, ảnh 224×224, đầu ra 8 nhóm món</a:t>
            </a:r>
          </a:p>
          <a:p>
            <a:r>
              <a:rPr lang="vi-VN" sz="2000"/>
              <a:t>Tầng 2 — 8 bộ phân loại MÓN chuyên biệt (mỗi nhóm một mô hình):</a:t>
            </a:r>
          </a:p>
          <a:p>
            <a:pPr lvl="1"/>
            <a:r>
              <a:rPr lang="vi-VN" sz="1600"/>
              <a:t>EfficientNet-B2, ảnh 260×260, đầu ra là các món trong nhóm đó</a:t>
            </a:r>
          </a:p>
          <a:p>
            <a:r>
              <a:rPr lang="vi-VN" sz="2000"/>
              <a:t>Huấn luyện: cùng lịch 3 pha ở trên; Early Stopping (patience 5–7)</a:t>
            </a:r>
          </a:p>
          <a:p>
            <a:r>
              <a:rPr lang="vi-VN" sz="2000"/>
              <a:t>Suy luận: ảnh → Tầng 1 chọn nhóm → định tuyến sang mô hình con của nhóm → món chi tiết</a:t>
            </a:r>
          </a:p>
        </p:txBody>
      </p:sp>
      <p:sp>
        <p:nvSpPr>
          <p:cNvPr id="5" name="Title 4">
            <a:extLst>
              <a:ext uri="{FF2B5EF4-FFF2-40B4-BE49-F238E27FC236}">
                <a16:creationId xmlns:a16="http://schemas.microsoft.com/office/drawing/2014/main" id="{34CF7EA9-9B94-F2DA-2861-6A06132AFFA6}"/>
              </a:ext>
            </a:extLst>
          </p:cNvPr>
          <p:cNvSpPr>
            <a:spLocks noGrp="1"/>
          </p:cNvSpPr>
          <p:nvPr>
            <p:ph type="title"/>
          </p:nvPr>
        </p:nvSpPr>
        <p:spPr>
          <a:xfrm>
            <a:off x="235076" y="78613"/>
            <a:ext cx="8827643" cy="451739"/>
          </a:xfrm>
        </p:spPr>
        <p:txBody>
          <a:bodyPr/>
          <a:lstStyle/>
          <a:p>
            <a:r>
              <a:rPr lang="en-US"/>
              <a:t>Cấu hình &amp; cách huấn luyện </a:t>
            </a:r>
          </a:p>
        </p:txBody>
      </p:sp>
    </p:spTree>
    <p:extLst>
      <p:ext uri="{BB962C8B-B14F-4D97-AF65-F5344CB8AC3E}">
        <p14:creationId xmlns:p14="http://schemas.microsoft.com/office/powerpoint/2010/main" val="3842594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1BDE3-256F-E3F7-2AD9-F71186D870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AAF1DB-0EE2-FA5D-6E3F-BB27AD53C65B}"/>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5" name="Title 4">
            <a:extLst>
              <a:ext uri="{FF2B5EF4-FFF2-40B4-BE49-F238E27FC236}">
                <a16:creationId xmlns:a16="http://schemas.microsoft.com/office/drawing/2014/main" id="{8F55FD6C-B215-62DE-B6E5-DA9F7546E6D7}"/>
              </a:ext>
            </a:extLst>
          </p:cNvPr>
          <p:cNvSpPr>
            <a:spLocks noGrp="1"/>
          </p:cNvSpPr>
          <p:nvPr>
            <p:ph type="title"/>
          </p:nvPr>
        </p:nvSpPr>
        <p:spPr>
          <a:xfrm>
            <a:off x="235076" y="78613"/>
            <a:ext cx="8827643" cy="451739"/>
          </a:xfrm>
        </p:spPr>
        <p:txBody>
          <a:bodyPr/>
          <a:lstStyle/>
          <a:p>
            <a:r>
              <a:rPr lang="en-US"/>
              <a:t>Kiến trúc mô hình EfficienNet-B0 , EfficientNet-B2</a:t>
            </a:r>
          </a:p>
        </p:txBody>
      </p:sp>
      <p:pic>
        <p:nvPicPr>
          <p:cNvPr id="6" name="Picture 5" descr="image.png"/>
          <p:cNvPicPr>
            <a:picLocks noChangeAspect="1"/>
          </p:cNvPicPr>
          <p:nvPr/>
        </p:nvPicPr>
        <p:blipFill>
          <a:blip r:embed="rId2"/>
          <a:stretch>
            <a:fillRect/>
          </a:stretch>
        </p:blipFill>
        <p:spPr>
          <a:xfrm>
            <a:off x="782321" y="633664"/>
            <a:ext cx="3598444" cy="6224336"/>
          </a:xfrm>
          <a:prstGeom prst="rect">
            <a:avLst/>
          </a:prstGeom>
        </p:spPr>
      </p:pic>
      <p:pic>
        <p:nvPicPr>
          <p:cNvPr id="7" name="Picture 6" descr="efficientnet_b2.png"/>
          <p:cNvPicPr>
            <a:picLocks noChangeAspect="1"/>
          </p:cNvPicPr>
          <p:nvPr/>
        </p:nvPicPr>
        <p:blipFill>
          <a:blip r:embed="rId3"/>
          <a:stretch>
            <a:fillRect/>
          </a:stretch>
        </p:blipFill>
        <p:spPr>
          <a:xfrm>
            <a:off x="4763237" y="633664"/>
            <a:ext cx="3552996" cy="6145723"/>
          </a:xfrm>
          <a:prstGeom prst="rect">
            <a:avLst/>
          </a:prstGeom>
        </p:spPr>
      </p:pic>
    </p:spTree>
    <p:extLst>
      <p:ext uri="{BB962C8B-B14F-4D97-AF65-F5344CB8AC3E}">
        <p14:creationId xmlns:p14="http://schemas.microsoft.com/office/powerpoint/2010/main" val="1978244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E064C-61F1-2CCE-CB5A-CAAD3431CB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A037A1-2778-0A66-B214-11305DB8D950}"/>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
        <p:nvSpPr>
          <p:cNvPr id="3" name="Content Placeholder 2">
            <a:extLst>
              <a:ext uri="{FF2B5EF4-FFF2-40B4-BE49-F238E27FC236}">
                <a16:creationId xmlns:a16="http://schemas.microsoft.com/office/drawing/2014/main" id="{9926B277-CD38-BA7E-0312-5E018D3BDA6A}"/>
              </a:ext>
            </a:extLst>
          </p:cNvPr>
          <p:cNvSpPr>
            <a:spLocks noGrp="1"/>
          </p:cNvSpPr>
          <p:nvPr>
            <p:ph sz="half" idx="1"/>
          </p:nvPr>
        </p:nvSpPr>
        <p:spPr>
          <a:xfrm>
            <a:off x="0" y="1461790"/>
            <a:ext cx="7599680" cy="4351338"/>
          </a:xfrm>
        </p:spPr>
        <p:txBody>
          <a:bodyPr/>
          <a:lstStyle/>
          <a:p>
            <a:r>
              <a:rPr lang="vi-VN" sz="2000"/>
              <a:t>Chuyên biệt hóa: mỗi mô hình con B2 chỉ phân biệt ít món tương đồng trong một nhóm</a:t>
            </a:r>
          </a:p>
          <a:p>
            <a:pPr lvl="1"/>
            <a:r>
              <a:rPr lang="vi-VN" sz="1600"/>
              <a:t>→ đạt độ chính xác cao trên bài toán con (89,9%–98,9%)</a:t>
            </a:r>
          </a:p>
          <a:p>
            <a:r>
              <a:rPr lang="vi-VN" sz="2000"/>
              <a:t>Tính mô-đun &amp; khả năng mở rộng:</a:t>
            </a:r>
          </a:p>
          <a:p>
            <a:pPr lvl="1"/>
            <a:r>
              <a:rPr lang="vi-VN" sz="1600"/>
              <a:t>Thêm/sửa một món chỉ cần huấn luyện lại MỘT mô hình con nhỏ, không train lại toàn bộ 103 lớp</a:t>
            </a:r>
          </a:p>
          <a:p>
            <a:pPr lvl="1"/>
            <a:r>
              <a:rPr lang="vi-VN" sz="1600"/>
              <a:t>Trọng số tổ chức rõ ràng theo nhóm; khớp cách gom nhóm của kho công thức</a:t>
            </a:r>
          </a:p>
          <a:p>
            <a:r>
              <a:rPr lang="en-US" sz="2000"/>
              <a:t>Kết luận </a:t>
            </a:r>
            <a:r>
              <a:rPr lang="vi-VN" sz="2000"/>
              <a:t>:</a:t>
            </a:r>
          </a:p>
          <a:p>
            <a:pPr lvl="1"/>
            <a:r>
              <a:rPr lang="vi-VN" sz="1600"/>
              <a:t>Hai tầng có lỗi lan truyền (nhóm sai → món sai); lợi thế nằm ở chuyên biệt + mô-đun + phù hợp sản phẩm</a:t>
            </a:r>
          </a:p>
        </p:txBody>
      </p:sp>
      <p:sp>
        <p:nvSpPr>
          <p:cNvPr id="5" name="Title 4">
            <a:extLst>
              <a:ext uri="{FF2B5EF4-FFF2-40B4-BE49-F238E27FC236}">
                <a16:creationId xmlns:a16="http://schemas.microsoft.com/office/drawing/2014/main" id="{C6588E93-B873-2E42-9E9B-2A3DABC9BAC2}"/>
              </a:ext>
            </a:extLst>
          </p:cNvPr>
          <p:cNvSpPr>
            <a:spLocks noGrp="1"/>
          </p:cNvSpPr>
          <p:nvPr>
            <p:ph type="title"/>
          </p:nvPr>
        </p:nvSpPr>
        <p:spPr>
          <a:xfrm>
            <a:off x="235076" y="78613"/>
            <a:ext cx="8827643" cy="451739"/>
          </a:xfrm>
        </p:spPr>
        <p:txBody>
          <a:bodyPr/>
          <a:lstStyle/>
          <a:p>
            <a:r>
              <a:rPr lang="en-US"/>
              <a:t>Vì sao chọn kiến trúc hai tầng?</a:t>
            </a:r>
          </a:p>
        </p:txBody>
      </p:sp>
    </p:spTree>
    <p:extLst>
      <p:ext uri="{BB962C8B-B14F-4D97-AF65-F5344CB8AC3E}">
        <p14:creationId xmlns:p14="http://schemas.microsoft.com/office/powerpoint/2010/main" val="59604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BDD5E-B48C-0353-224D-9692A214D9F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C2F3A9-8490-A43A-BB56-DFCF14EFA2D3}"/>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3" name="Content Placeholder 2">
            <a:extLst>
              <a:ext uri="{FF2B5EF4-FFF2-40B4-BE49-F238E27FC236}">
                <a16:creationId xmlns:a16="http://schemas.microsoft.com/office/drawing/2014/main" id="{70895652-542C-CADB-3BD5-99E8236E3583}"/>
              </a:ext>
            </a:extLst>
          </p:cNvPr>
          <p:cNvSpPr>
            <a:spLocks noGrp="1"/>
          </p:cNvSpPr>
          <p:nvPr>
            <p:ph sz="half" idx="1"/>
          </p:nvPr>
        </p:nvSpPr>
        <p:spPr>
          <a:xfrm>
            <a:off x="142240" y="1442540"/>
            <a:ext cx="3886200" cy="4351338"/>
          </a:xfrm>
        </p:spPr>
        <p:txBody>
          <a:bodyPr/>
          <a:lstStyle/>
          <a:p>
            <a:r>
              <a:rPr lang="vi-VN" sz="2000"/>
              <a:t>Bộ phân loại nhóm: ~92,48%</a:t>
            </a:r>
          </a:p>
          <a:p>
            <a:r>
              <a:rPr lang="vi-VN" sz="2000"/>
              <a:t>Các bộ phân loại món: 89,95% – 98,88%</a:t>
            </a:r>
          </a:p>
          <a:p>
            <a:r>
              <a:rPr lang="vi-VN" sz="2000"/>
              <a:t>Mô hình chuyên biệt: chạy cục bộ, chủ động ràng buộc công thức</a:t>
            </a:r>
          </a:p>
          <a:p>
            <a:r>
              <a:rPr lang="vi-VN" sz="2000"/>
              <a:t>So với API đa năng: phủ rộng nhưng khó ánh xạ công thức, tốn phí/độ trễ</a:t>
            </a:r>
          </a:p>
        </p:txBody>
      </p:sp>
      <p:pic>
        <p:nvPicPr>
          <p:cNvPr id="7" name="Content Placeholder 6">
            <a:extLst>
              <a:ext uri="{FF2B5EF4-FFF2-40B4-BE49-F238E27FC236}">
                <a16:creationId xmlns:a16="http://schemas.microsoft.com/office/drawing/2014/main" id="{74458DF2-DFA6-CC8D-A962-418A7B69814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p:blipFill>
        <p:spPr>
          <a:xfrm>
            <a:off x="4195811" y="1212406"/>
            <a:ext cx="4728972" cy="5202729"/>
          </a:xfrm>
          <a:prstGeom prst="rect">
            <a:avLst/>
          </a:prstGeom>
        </p:spPr>
      </p:pic>
      <p:sp>
        <p:nvSpPr>
          <p:cNvPr id="5" name="Title 4">
            <a:extLst>
              <a:ext uri="{FF2B5EF4-FFF2-40B4-BE49-F238E27FC236}">
                <a16:creationId xmlns:a16="http://schemas.microsoft.com/office/drawing/2014/main" id="{E85073B0-61EF-D04E-A54A-488B3B5B01F2}"/>
              </a:ext>
            </a:extLst>
          </p:cNvPr>
          <p:cNvSpPr>
            <a:spLocks noGrp="1"/>
          </p:cNvSpPr>
          <p:nvPr>
            <p:ph type="title"/>
          </p:nvPr>
        </p:nvSpPr>
        <p:spPr/>
        <p:txBody>
          <a:bodyPr/>
          <a:lstStyle/>
          <a:p>
            <a:r>
              <a:rPr lang="en-US"/>
              <a:t>Kết quả: Độ chính xác mô hình nhận diện</a:t>
            </a:r>
          </a:p>
        </p:txBody>
      </p:sp>
    </p:spTree>
    <p:extLst>
      <p:ext uri="{BB962C8B-B14F-4D97-AF65-F5344CB8AC3E}">
        <p14:creationId xmlns:p14="http://schemas.microsoft.com/office/powerpoint/2010/main" val="3125061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t>Phụ lục — Chi tiết kiến trúc nhận diện 2 tầng</a:t>
            </a:r>
          </a:p>
        </p:txBody>
      </p:sp>
      <p:sp>
        <p:nvSpPr>
          <p:cNvPr id="2" name="Slide Number Placeholder 1">
            <a:extLst>
              <a:ext uri="{FF2B5EF4-FFF2-40B4-BE49-F238E27FC236}">
                <a16:creationId xmlns:a16="http://schemas.microsoft.com/office/drawing/2014/main" id="{6B0FC1EF-4A66-B26F-A7D9-3A843B4E4A30}"/>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3" name="TextBox 3">
            <a:extLst>
              <a:ext uri="{FF2B5EF4-FFF2-40B4-BE49-F238E27FC236}">
                <a16:creationId xmlns:a16="http://schemas.microsoft.com/office/drawing/2014/main" id="{5702C2CF-69D5-E631-1E52-37D87BE73C4F}"/>
              </a:ext>
            </a:extLst>
          </p:cNvPr>
          <p:cNvSpPr txBox="1"/>
          <p:nvPr/>
        </p:nvSpPr>
        <p:spPr>
          <a:xfrm>
            <a:off x="2329688" y="744280"/>
            <a:ext cx="4643120" cy="646331"/>
          </a:xfrm>
          <a:prstGeom prst="rect">
            <a:avLst/>
          </a:prstGeom>
          <a:noFill/>
        </p:spPr>
        <p:txBody>
          <a:bodyPr wrap="square" rtlCol="0">
            <a:spAutoFit/>
          </a:bodyPr>
          <a:lstStyle/>
          <a:p>
            <a:pPr algn="ctr"/>
            <a:r>
              <a:rPr lang="en-US" b="1">
                <a:solidFill>
                  <a:schemeClr val="bg1"/>
                </a:solidFill>
                <a:latin typeface="Lato" panose="020F0502020204030203" pitchFamily="34" charset="0"/>
                <a:ea typeface="Lato" panose="020F0502020204030203" pitchFamily="34" charset="0"/>
                <a:cs typeface="Lato" panose="020F0502020204030203" pitchFamily="34" charset="0"/>
              </a:rPr>
              <a:t>Tầng 1: 8 nhóm  - Tầng 2: các món trong từng nhóm</a:t>
            </a:r>
          </a:p>
        </p:txBody>
      </p:sp>
      <p:graphicFrame>
        <p:nvGraphicFramePr>
          <p:cNvPr id="5" name="Table 4"/>
          <p:cNvGraphicFramePr>
            <a:graphicFrameLocks noGrp="1"/>
          </p:cNvGraphicFramePr>
          <p:nvPr>
            <p:extLst>
              <p:ext uri="{D42A27DB-BD31-4B8C-83A1-F6EECF244321}">
                <p14:modId xmlns:p14="http://schemas.microsoft.com/office/powerpoint/2010/main" val="2684009733"/>
              </p:ext>
            </p:extLst>
          </p:nvPr>
        </p:nvGraphicFramePr>
        <p:xfrm>
          <a:off x="320040" y="1280160"/>
          <a:ext cx="8503920" cy="5044440"/>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6263640">
                  <a:extLst>
                    <a:ext uri="{9D8B030D-6E8A-4147-A177-3AD203B41FA5}">
                      <a16:colId xmlns:a16="http://schemas.microsoft.com/office/drawing/2014/main" val="20002"/>
                    </a:ext>
                  </a:extLst>
                </a:gridCol>
              </a:tblGrid>
              <a:tr h="523240">
                <a:tc>
                  <a:txBody>
                    <a:bodyPr/>
                    <a:lstStyle/>
                    <a:p>
                      <a:r>
                        <a:rPr sz="1200" b="1">
                          <a:solidFill>
                            <a:srgbClr val="FFFFFF"/>
                          </a:solidFill>
                          <a:latin typeface="Lato" panose="020F0502020204030203" pitchFamily="34" charset="0"/>
                          <a:ea typeface="Lato" panose="020F0502020204030203" pitchFamily="34" charset="0"/>
                          <a:cs typeface="Lato" panose="020F0502020204030203" pitchFamily="34" charset="0"/>
                        </a:rPr>
                        <a:t>Nhóm (tầng 1)</a:t>
                      </a:r>
                    </a:p>
                  </a:txBody>
                  <a:tcPr marT="12700" marB="12700" anchor="ctr">
                    <a:solidFill>
                      <a:srgbClr val="4472C4"/>
                    </a:solidFill>
                  </a:tcPr>
                </a:tc>
                <a:tc>
                  <a:txBody>
                    <a:bodyPr/>
                    <a:lstStyle/>
                    <a:p>
                      <a:r>
                        <a:rPr sz="1200" b="1">
                          <a:solidFill>
                            <a:srgbClr val="FFFFFF"/>
                          </a:solidFill>
                          <a:latin typeface="Lato" panose="020F0502020204030203" pitchFamily="34" charset="0"/>
                          <a:ea typeface="Lato" panose="020F0502020204030203" pitchFamily="34" charset="0"/>
                          <a:cs typeface="Lato" panose="020F0502020204030203" pitchFamily="34" charset="0"/>
                        </a:rPr>
                        <a:t>Số</a:t>
                      </a:r>
                    </a:p>
                  </a:txBody>
                  <a:tcPr marT="12700" marB="12700" anchor="ctr">
                    <a:solidFill>
                      <a:srgbClr val="4472C4"/>
                    </a:solidFill>
                  </a:tcPr>
                </a:tc>
                <a:tc>
                  <a:txBody>
                    <a:bodyPr/>
                    <a:lstStyle/>
                    <a:p>
                      <a:r>
                        <a:rPr sz="1200" b="1">
                          <a:solidFill>
                            <a:srgbClr val="FFFFFF"/>
                          </a:solidFill>
                          <a:latin typeface="Lato" panose="020F0502020204030203" pitchFamily="34" charset="0"/>
                          <a:ea typeface="Lato" panose="020F0502020204030203" pitchFamily="34" charset="0"/>
                          <a:cs typeface="Lato" panose="020F0502020204030203" pitchFamily="34" charset="0"/>
                        </a:rPr>
                        <a:t>Các món trong nhóm (tầng 2)</a:t>
                      </a:r>
                    </a:p>
                  </a:txBody>
                  <a:tcPr marT="12700" marB="12700" anchor="ctr">
                    <a:solidFill>
                      <a:srgbClr val="4472C4"/>
                    </a:solidFill>
                  </a:tcPr>
                </a:tc>
                <a:extLst>
                  <a:ext uri="{0D108BD9-81ED-4DB2-BD59-A6C34878D82A}">
                    <a16:rowId xmlns:a16="http://schemas.microsoft.com/office/drawing/2014/main" val="10000"/>
                  </a:ext>
                </a:extLst>
              </a:tr>
              <a:tr h="523240">
                <a:tc>
                  <a:txBody>
                    <a:bodyPr/>
                    <a:lstStyle/>
                    <a:p>
                      <a:r>
                        <a:rPr sz="1200" b="1">
                          <a:solidFill>
                            <a:srgbClr val="4472C4"/>
                          </a:solidFill>
                          <a:latin typeface="Lato" panose="020F0502020204030203" pitchFamily="34" charset="0"/>
                          <a:ea typeface="Lato" panose="020F0502020204030203" pitchFamily="34" charset="0"/>
                          <a:cs typeface="Lato" panose="020F0502020204030203" pitchFamily="34" charset="0"/>
                        </a:rPr>
                        <a:t>Bánh</a:t>
                      </a:r>
                    </a:p>
                  </a:txBody>
                  <a:tcPr marL="50800" marR="50800" marT="12700" marB="12700" anchor="ctr">
                    <a:solidFill>
                      <a:srgbClr val="FFFFFF"/>
                    </a:solidFill>
                  </a:tcPr>
                </a:tc>
                <a:tc>
                  <a:txBody>
                    <a:bodyPr/>
                    <a:lstStyle/>
                    <a:p>
                      <a:pPr algn="ctr"/>
                      <a:r>
                        <a:rPr sz="1200" b="1">
                          <a:solidFill>
                            <a:srgbClr val="44546A"/>
                          </a:solidFill>
                          <a:latin typeface="Lato" panose="020F0502020204030203" pitchFamily="34" charset="0"/>
                          <a:ea typeface="Lato" panose="020F0502020204030203" pitchFamily="34" charset="0"/>
                          <a:cs typeface="Lato" panose="020F0502020204030203" pitchFamily="34" charset="0"/>
                        </a:rPr>
                        <a:t>3</a:t>
                      </a:r>
                      <a:r>
                        <a:rPr lang="en-US" sz="1200" b="1">
                          <a:solidFill>
                            <a:srgbClr val="44546A"/>
                          </a:solidFill>
                          <a:latin typeface="Lato" panose="020F0502020204030203" pitchFamily="34" charset="0"/>
                          <a:ea typeface="Lato" panose="020F0502020204030203" pitchFamily="34" charset="0"/>
                          <a:cs typeface="Lato" panose="020F0502020204030203" pitchFamily="34" charset="0"/>
                        </a:rPr>
                        <a:t>0</a:t>
                      </a:r>
                      <a:endParaRPr sz="1200" b="1">
                        <a:solidFill>
                          <a:srgbClr val="44546A"/>
                        </a:solidFill>
                        <a:latin typeface="Lato" panose="020F0502020204030203" pitchFamily="34" charset="0"/>
                        <a:ea typeface="Lato" panose="020F0502020204030203" pitchFamily="34" charset="0"/>
                        <a:cs typeface="Lato" panose="020F0502020204030203" pitchFamily="34" charset="0"/>
                      </a:endParaRPr>
                    </a:p>
                  </a:txBody>
                  <a:tcPr marL="50800" marR="50800" marT="12700" marB="12700" anchor="ctr">
                    <a:solidFill>
                      <a:srgbClr val="FFFFFF"/>
                    </a:solidFill>
                  </a:tcPr>
                </a:tc>
                <a:tc>
                  <a:txBody>
                    <a:bodyPr/>
                    <a:lstStyle/>
                    <a:p>
                      <a:r>
                        <a:rPr sz="1200">
                          <a:solidFill>
                            <a:srgbClr val="44546A"/>
                          </a:solidFill>
                          <a:latin typeface="Lato" panose="020F0502020204030203" pitchFamily="34" charset="0"/>
                          <a:ea typeface="Lato" panose="020F0502020204030203" pitchFamily="34" charset="0"/>
                          <a:cs typeface="Lato" panose="020F0502020204030203" pitchFamily="34" charset="0"/>
                        </a:rPr>
                        <a:t>Bánh bao, Bánh bèo, Bánh bò, Bánh bột lọc, Bánh căn, Bánh canh, Bánh chưng, Bánh cống, Bánh cuốn, Bánh đa cua, Bánh da lợn, Bánh đúc, Bánh gai, Bánh giầy, Bánh giò, Bánh hỏi, Bánh khọt, Bánh lá, Bánh mì, Bánh mì chảo, Bánh pía, Bánh tai heo, Bánh tét, Bánh tiêu, Bánh tôm Hồ Tây, Bánh tráng nướng, Bánh trôi nước, Bánh trung thu, Bánh ú, Bánh xèo</a:t>
                      </a:r>
                    </a:p>
                  </a:txBody>
                  <a:tcPr marL="50800" marR="50800" marT="12700" marB="12700" anchor="ctr">
                    <a:solidFill>
                      <a:srgbClr val="FFFFFF"/>
                    </a:solidFill>
                  </a:tcPr>
                </a:tc>
                <a:extLst>
                  <a:ext uri="{0D108BD9-81ED-4DB2-BD59-A6C34878D82A}">
                    <a16:rowId xmlns:a16="http://schemas.microsoft.com/office/drawing/2014/main" val="10001"/>
                  </a:ext>
                </a:extLst>
              </a:tr>
              <a:tr h="523240">
                <a:tc>
                  <a:txBody>
                    <a:bodyPr/>
                    <a:lstStyle/>
                    <a:p>
                      <a:r>
                        <a:rPr sz="1200" b="1">
                          <a:solidFill>
                            <a:srgbClr val="4472C4"/>
                          </a:solidFill>
                          <a:latin typeface="Lato" panose="020F0502020204030203" pitchFamily="34" charset="0"/>
                          <a:ea typeface="Lato" panose="020F0502020204030203" pitchFamily="34" charset="0"/>
                          <a:cs typeface="Lato" panose="020F0502020204030203" pitchFamily="34" charset="0"/>
                        </a:rPr>
                        <a:t>Bún / Phở</a:t>
                      </a:r>
                    </a:p>
                  </a:txBody>
                  <a:tcPr marL="50800" marR="50800" marT="12700" marB="12700" anchor="ctr">
                    <a:solidFill>
                      <a:srgbClr val="FFFFFF"/>
                    </a:solidFill>
                  </a:tcPr>
                </a:tc>
                <a:tc>
                  <a:txBody>
                    <a:bodyPr/>
                    <a:lstStyle/>
                    <a:p>
                      <a:pPr algn="ctr"/>
                      <a:r>
                        <a:rPr sz="1200" b="1">
                          <a:solidFill>
                            <a:srgbClr val="44546A"/>
                          </a:solidFill>
                          <a:latin typeface="Lato" panose="020F0502020204030203" pitchFamily="34" charset="0"/>
                          <a:ea typeface="Lato" panose="020F0502020204030203" pitchFamily="34" charset="0"/>
                          <a:cs typeface="Lato" panose="020F0502020204030203" pitchFamily="34" charset="0"/>
                        </a:rPr>
                        <a:t>1</a:t>
                      </a:r>
                      <a:r>
                        <a:rPr lang="en-US" sz="1200" b="1">
                          <a:solidFill>
                            <a:srgbClr val="44546A"/>
                          </a:solidFill>
                          <a:latin typeface="Lato" panose="020F0502020204030203" pitchFamily="34" charset="0"/>
                          <a:ea typeface="Lato" panose="020F0502020204030203" pitchFamily="34" charset="0"/>
                          <a:cs typeface="Lato" panose="020F0502020204030203" pitchFamily="34" charset="0"/>
                        </a:rPr>
                        <a:t>3</a:t>
                      </a:r>
                      <a:endParaRPr sz="1200" b="1">
                        <a:solidFill>
                          <a:srgbClr val="44546A"/>
                        </a:solidFill>
                        <a:latin typeface="Lato" panose="020F0502020204030203" pitchFamily="34" charset="0"/>
                        <a:ea typeface="Lato" panose="020F0502020204030203" pitchFamily="34" charset="0"/>
                        <a:cs typeface="Lato" panose="020F0502020204030203" pitchFamily="34" charset="0"/>
                      </a:endParaRPr>
                    </a:p>
                  </a:txBody>
                  <a:tcPr marL="50800" marR="50800" marT="12700" marB="12700" anchor="ctr">
                    <a:solidFill>
                      <a:srgbClr val="FFFFFF"/>
                    </a:solidFill>
                  </a:tcPr>
                </a:tc>
                <a:tc>
                  <a:txBody>
                    <a:bodyPr/>
                    <a:lstStyle/>
                    <a:p>
                      <a:r>
                        <a:rPr sz="1200">
                          <a:solidFill>
                            <a:srgbClr val="44546A"/>
                          </a:solidFill>
                          <a:latin typeface="Lato" panose="020F0502020204030203" pitchFamily="34" charset="0"/>
                          <a:ea typeface="Lato" panose="020F0502020204030203" pitchFamily="34" charset="0"/>
                          <a:cs typeface="Lato" panose="020F0502020204030203" pitchFamily="34" charset="0"/>
                        </a:rPr>
                        <a:t>Phở, Bún bò Huế, Bún chả, Bún chả cá, Bún đậu mắm tôm, Bún mắm, Bún riêu, Bún thịt nướng, Hủ tiếu, Mì Quảng, Mì xào giòn, Nui xào, Nậm pịa</a:t>
                      </a:r>
                    </a:p>
                  </a:txBody>
                  <a:tcPr marL="50800" marR="50800" marT="12700" marB="12700" anchor="ctr">
                    <a:solidFill>
                      <a:srgbClr val="FFFFFF"/>
                    </a:solidFill>
                  </a:tcPr>
                </a:tc>
                <a:extLst>
                  <a:ext uri="{0D108BD9-81ED-4DB2-BD59-A6C34878D82A}">
                    <a16:rowId xmlns:a16="http://schemas.microsoft.com/office/drawing/2014/main" val="10002"/>
                  </a:ext>
                </a:extLst>
              </a:tr>
              <a:tr h="523240">
                <a:tc>
                  <a:txBody>
                    <a:bodyPr/>
                    <a:lstStyle/>
                    <a:p>
                      <a:r>
                        <a:rPr sz="1200" b="1">
                          <a:solidFill>
                            <a:srgbClr val="4472C4"/>
                          </a:solidFill>
                          <a:latin typeface="Lato" panose="020F0502020204030203" pitchFamily="34" charset="0"/>
                          <a:ea typeface="Lato" panose="020F0502020204030203" pitchFamily="34" charset="0"/>
                          <a:cs typeface="Lato" panose="020F0502020204030203" pitchFamily="34" charset="0"/>
                        </a:rPr>
                        <a:t>Cơm</a:t>
                      </a:r>
                    </a:p>
                  </a:txBody>
                  <a:tcPr marL="50800" marR="50800" marT="12700" marB="12700" anchor="ctr">
                    <a:solidFill>
                      <a:srgbClr val="FFFFFF"/>
                    </a:solidFill>
                  </a:tcPr>
                </a:tc>
                <a:tc>
                  <a:txBody>
                    <a:bodyPr/>
                    <a:lstStyle/>
                    <a:p>
                      <a:pPr algn="ctr"/>
                      <a:r>
                        <a:rPr sz="1200" b="1">
                          <a:solidFill>
                            <a:srgbClr val="44546A"/>
                          </a:solidFill>
                          <a:latin typeface="Lato" panose="020F0502020204030203" pitchFamily="34" charset="0"/>
                          <a:ea typeface="Lato" panose="020F0502020204030203" pitchFamily="34" charset="0"/>
                          <a:cs typeface="Lato" panose="020F0502020204030203" pitchFamily="34" charset="0"/>
                        </a:rPr>
                        <a:t>6</a:t>
                      </a:r>
                    </a:p>
                  </a:txBody>
                  <a:tcPr marL="50800" marR="50800" marT="12700" marB="12700" anchor="ctr">
                    <a:solidFill>
                      <a:srgbClr val="FFFFFF"/>
                    </a:solidFill>
                  </a:tcPr>
                </a:tc>
                <a:tc>
                  <a:txBody>
                    <a:bodyPr/>
                    <a:lstStyle/>
                    <a:p>
                      <a:r>
                        <a:rPr sz="1200">
                          <a:solidFill>
                            <a:srgbClr val="44546A"/>
                          </a:solidFill>
                          <a:latin typeface="Lato" panose="020F0502020204030203" pitchFamily="34" charset="0"/>
                          <a:ea typeface="Lato" panose="020F0502020204030203" pitchFamily="34" charset="0"/>
                          <a:cs typeface="Lato" panose="020F0502020204030203" pitchFamily="34" charset="0"/>
                        </a:rPr>
                        <a:t>Cơm cháy chà bông, Cơm chiên, Cơm gà xối mỡ, Cơm lam, Cơm rang dưa bò, Cơm tấm</a:t>
                      </a:r>
                    </a:p>
                  </a:txBody>
                  <a:tcPr marL="50800" marR="50800" marT="12700" marB="12700" anchor="ctr">
                    <a:solidFill>
                      <a:srgbClr val="FFFFFF"/>
                    </a:solidFill>
                  </a:tcPr>
                </a:tc>
                <a:extLst>
                  <a:ext uri="{0D108BD9-81ED-4DB2-BD59-A6C34878D82A}">
                    <a16:rowId xmlns:a16="http://schemas.microsoft.com/office/drawing/2014/main" val="10003"/>
                  </a:ext>
                </a:extLst>
              </a:tr>
              <a:tr h="523240">
                <a:tc>
                  <a:txBody>
                    <a:bodyPr/>
                    <a:lstStyle/>
                    <a:p>
                      <a:r>
                        <a:rPr sz="1200" b="1">
                          <a:solidFill>
                            <a:srgbClr val="4472C4"/>
                          </a:solidFill>
                          <a:latin typeface="Lato" panose="020F0502020204030203" pitchFamily="34" charset="0"/>
                          <a:ea typeface="Lato" panose="020F0502020204030203" pitchFamily="34" charset="0"/>
                          <a:cs typeface="Lato" panose="020F0502020204030203" pitchFamily="34" charset="0"/>
                        </a:rPr>
                        <a:t>Món kho / nướng</a:t>
                      </a:r>
                    </a:p>
                  </a:txBody>
                  <a:tcPr marL="50800" marR="50800" marT="12700" marB="12700" anchor="ctr">
                    <a:solidFill>
                      <a:srgbClr val="FFFFFF"/>
                    </a:solidFill>
                  </a:tcPr>
                </a:tc>
                <a:tc>
                  <a:txBody>
                    <a:bodyPr/>
                    <a:lstStyle/>
                    <a:p>
                      <a:pPr algn="ctr"/>
                      <a:r>
                        <a:rPr sz="1200" b="1">
                          <a:solidFill>
                            <a:srgbClr val="44546A"/>
                          </a:solidFill>
                          <a:latin typeface="Lato" panose="020F0502020204030203" pitchFamily="34" charset="0"/>
                          <a:ea typeface="Lato" panose="020F0502020204030203" pitchFamily="34" charset="0"/>
                          <a:cs typeface="Lato" panose="020F0502020204030203" pitchFamily="34" charset="0"/>
                        </a:rPr>
                        <a:t>17</a:t>
                      </a:r>
                    </a:p>
                  </a:txBody>
                  <a:tcPr marL="50800" marR="50800" marT="12700" marB="12700" anchor="ctr">
                    <a:solidFill>
                      <a:srgbClr val="FFFFFF"/>
                    </a:solidFill>
                  </a:tcPr>
                </a:tc>
                <a:tc>
                  <a:txBody>
                    <a:bodyPr/>
                    <a:lstStyle/>
                    <a:p>
                      <a:r>
                        <a:rPr sz="1200">
                          <a:solidFill>
                            <a:srgbClr val="44546A"/>
                          </a:solidFill>
                          <a:latin typeface="Lato" panose="020F0502020204030203" pitchFamily="34" charset="0"/>
                          <a:ea typeface="Lato" panose="020F0502020204030203" pitchFamily="34" charset="0"/>
                          <a:cs typeface="Lato" panose="020F0502020204030203" pitchFamily="34" charset="0"/>
                        </a:rPr>
                        <a:t>Bò kho, Bò lá lốt, Bò lúc lắc, Bò né, Bò nướng lá lốt, Cá kho tộ, Cá lóc nướng, Cá muối xổi, Cá sốt cà chua, Gà chiên nước mắm, Khô mực nướng, Kho quẹt, Lạp xưởng, Lươn xào xả ớt, Mực nhồi thịt, Rau muống xào, Thịt kho tàu</a:t>
                      </a:r>
                    </a:p>
                  </a:txBody>
                  <a:tcPr marL="50800" marR="50800" marT="12700" marB="12700" anchor="ctr">
                    <a:solidFill>
                      <a:srgbClr val="FFFFFF"/>
                    </a:solidFill>
                  </a:tcPr>
                </a:tc>
                <a:extLst>
                  <a:ext uri="{0D108BD9-81ED-4DB2-BD59-A6C34878D82A}">
                    <a16:rowId xmlns:a16="http://schemas.microsoft.com/office/drawing/2014/main" val="10004"/>
                  </a:ext>
                </a:extLst>
              </a:tr>
              <a:tr h="523240">
                <a:tc>
                  <a:txBody>
                    <a:bodyPr/>
                    <a:lstStyle/>
                    <a:p>
                      <a:r>
                        <a:rPr sz="1200" b="1">
                          <a:solidFill>
                            <a:srgbClr val="4472C4"/>
                          </a:solidFill>
                          <a:latin typeface="Lato" panose="020F0502020204030203" pitchFamily="34" charset="0"/>
                          <a:ea typeface="Lato" panose="020F0502020204030203" pitchFamily="34" charset="0"/>
                          <a:cs typeface="Lato" panose="020F0502020204030203" pitchFamily="34" charset="0"/>
                        </a:rPr>
                        <a:t>Canh / Cháo</a:t>
                      </a:r>
                    </a:p>
                  </a:txBody>
                  <a:tcPr marL="50800" marR="50800" marT="12700" marB="12700" anchor="ctr">
                    <a:solidFill>
                      <a:srgbClr val="FFFFFF"/>
                    </a:solidFill>
                  </a:tcPr>
                </a:tc>
                <a:tc>
                  <a:txBody>
                    <a:bodyPr/>
                    <a:lstStyle/>
                    <a:p>
                      <a:pPr algn="ctr"/>
                      <a:r>
                        <a:rPr sz="1200" b="1">
                          <a:solidFill>
                            <a:srgbClr val="44546A"/>
                          </a:solidFill>
                          <a:latin typeface="Lato" panose="020F0502020204030203" pitchFamily="34" charset="0"/>
                          <a:ea typeface="Lato" panose="020F0502020204030203" pitchFamily="34" charset="0"/>
                          <a:cs typeface="Lato" panose="020F0502020204030203" pitchFamily="34" charset="0"/>
                        </a:rPr>
                        <a:t>1</a:t>
                      </a:r>
                      <a:r>
                        <a:rPr lang="en-US" sz="1200" b="1">
                          <a:solidFill>
                            <a:srgbClr val="44546A"/>
                          </a:solidFill>
                          <a:latin typeface="Lato" panose="020F0502020204030203" pitchFamily="34" charset="0"/>
                          <a:ea typeface="Lato" panose="020F0502020204030203" pitchFamily="34" charset="0"/>
                          <a:cs typeface="Lato" panose="020F0502020204030203" pitchFamily="34" charset="0"/>
                        </a:rPr>
                        <a:t>0</a:t>
                      </a:r>
                      <a:endParaRPr sz="1200" b="1">
                        <a:solidFill>
                          <a:srgbClr val="44546A"/>
                        </a:solidFill>
                        <a:latin typeface="Lato" panose="020F0502020204030203" pitchFamily="34" charset="0"/>
                        <a:ea typeface="Lato" panose="020F0502020204030203" pitchFamily="34" charset="0"/>
                        <a:cs typeface="Lato" panose="020F0502020204030203" pitchFamily="34" charset="0"/>
                      </a:endParaRPr>
                    </a:p>
                  </a:txBody>
                  <a:tcPr marL="50800" marR="50800" marT="12700" marB="12700" anchor="ctr">
                    <a:solidFill>
                      <a:srgbClr val="FFFFFF"/>
                    </a:solidFill>
                  </a:tcPr>
                </a:tc>
                <a:tc>
                  <a:txBody>
                    <a:bodyPr/>
                    <a:lstStyle/>
                    <a:p>
                      <a:r>
                        <a:rPr sz="1200">
                          <a:solidFill>
                            <a:srgbClr val="44546A"/>
                          </a:solidFill>
                          <a:latin typeface="Lato" panose="020F0502020204030203" pitchFamily="34" charset="0"/>
                          <a:ea typeface="Lato" panose="020F0502020204030203" pitchFamily="34" charset="0"/>
                          <a:cs typeface="Lato" panose="020F0502020204030203" pitchFamily="34" charset="0"/>
                        </a:rPr>
                        <a:t>Canh bí đỏ, Canh chua, Canh cua, Canh khổ hoa, Canh khoai tím, Cà ri gà, Cháo lòng, Cháo vịt, Súp cua, Lươn om chuối đậu</a:t>
                      </a:r>
                    </a:p>
                  </a:txBody>
                  <a:tcPr marL="50800" marR="50800" marT="12700" marB="12700" anchor="ctr">
                    <a:solidFill>
                      <a:srgbClr val="FFFFFF"/>
                    </a:solidFill>
                  </a:tcPr>
                </a:tc>
                <a:extLst>
                  <a:ext uri="{0D108BD9-81ED-4DB2-BD59-A6C34878D82A}">
                    <a16:rowId xmlns:a16="http://schemas.microsoft.com/office/drawing/2014/main" val="10005"/>
                  </a:ext>
                </a:extLst>
              </a:tr>
              <a:tr h="523240">
                <a:tc>
                  <a:txBody>
                    <a:bodyPr/>
                    <a:lstStyle/>
                    <a:p>
                      <a:r>
                        <a:rPr sz="1200" b="1">
                          <a:solidFill>
                            <a:srgbClr val="4472C4"/>
                          </a:solidFill>
                          <a:latin typeface="Lato" panose="020F0502020204030203" pitchFamily="34" charset="0"/>
                          <a:ea typeface="Lato" panose="020F0502020204030203" pitchFamily="34" charset="0"/>
                          <a:cs typeface="Lato" panose="020F0502020204030203" pitchFamily="34" charset="0"/>
                        </a:rPr>
                        <a:t>Xôi</a:t>
                      </a:r>
                    </a:p>
                  </a:txBody>
                  <a:tcPr marL="50800" marR="50800" marT="12700" marB="12700" anchor="ctr">
                    <a:solidFill>
                      <a:srgbClr val="FFFFFF"/>
                    </a:solidFill>
                  </a:tcPr>
                </a:tc>
                <a:tc>
                  <a:txBody>
                    <a:bodyPr/>
                    <a:lstStyle/>
                    <a:p>
                      <a:pPr algn="ctr"/>
                      <a:r>
                        <a:rPr sz="1200" b="1">
                          <a:solidFill>
                            <a:srgbClr val="44546A"/>
                          </a:solidFill>
                          <a:latin typeface="Lato" panose="020F0502020204030203" pitchFamily="34" charset="0"/>
                          <a:ea typeface="Lato" panose="020F0502020204030203" pitchFamily="34" charset="0"/>
                          <a:cs typeface="Lato" panose="020F0502020204030203" pitchFamily="34" charset="0"/>
                        </a:rPr>
                        <a:t>3</a:t>
                      </a:r>
                    </a:p>
                  </a:txBody>
                  <a:tcPr marL="50800" marR="50800" marT="12700" marB="12700" anchor="ctr">
                    <a:solidFill>
                      <a:srgbClr val="FFFFFF"/>
                    </a:solidFill>
                  </a:tcPr>
                </a:tc>
                <a:tc>
                  <a:txBody>
                    <a:bodyPr/>
                    <a:lstStyle/>
                    <a:p>
                      <a:r>
                        <a:rPr sz="1200">
                          <a:solidFill>
                            <a:srgbClr val="44546A"/>
                          </a:solidFill>
                          <a:latin typeface="Lato" panose="020F0502020204030203" pitchFamily="34" charset="0"/>
                          <a:ea typeface="Lato" panose="020F0502020204030203" pitchFamily="34" charset="0"/>
                          <a:cs typeface="Lato" panose="020F0502020204030203" pitchFamily="34" charset="0"/>
                        </a:rPr>
                        <a:t>Xôi gấc, Xôi nếp than, Xôi xéo</a:t>
                      </a:r>
                    </a:p>
                  </a:txBody>
                  <a:tcPr marL="50800" marR="50800" marT="12700" marB="12700" anchor="ctr">
                    <a:solidFill>
                      <a:srgbClr val="FFFFFF"/>
                    </a:solidFill>
                  </a:tcPr>
                </a:tc>
                <a:extLst>
                  <a:ext uri="{0D108BD9-81ED-4DB2-BD59-A6C34878D82A}">
                    <a16:rowId xmlns:a16="http://schemas.microsoft.com/office/drawing/2014/main" val="10006"/>
                  </a:ext>
                </a:extLst>
              </a:tr>
              <a:tr h="523240">
                <a:tc>
                  <a:txBody>
                    <a:bodyPr/>
                    <a:lstStyle/>
                    <a:p>
                      <a:r>
                        <a:rPr sz="1200" b="1">
                          <a:solidFill>
                            <a:srgbClr val="4472C4"/>
                          </a:solidFill>
                          <a:latin typeface="Lato" panose="020F0502020204030203" pitchFamily="34" charset="0"/>
                          <a:ea typeface="Lato" panose="020F0502020204030203" pitchFamily="34" charset="0"/>
                          <a:cs typeface="Lato" panose="020F0502020204030203" pitchFamily="34" charset="0"/>
                        </a:rPr>
                        <a:t>Gỏi / Cuốn</a:t>
                      </a:r>
                    </a:p>
                  </a:txBody>
                  <a:tcPr marL="50800" marR="50800" marT="12700" marB="12700" anchor="ctr">
                    <a:solidFill>
                      <a:srgbClr val="FFFFFF"/>
                    </a:solidFill>
                  </a:tcPr>
                </a:tc>
                <a:tc>
                  <a:txBody>
                    <a:bodyPr/>
                    <a:lstStyle/>
                    <a:p>
                      <a:pPr algn="ctr"/>
                      <a:r>
                        <a:rPr sz="1200" b="1">
                          <a:solidFill>
                            <a:srgbClr val="44546A"/>
                          </a:solidFill>
                          <a:latin typeface="Lato" panose="020F0502020204030203" pitchFamily="34" charset="0"/>
                          <a:ea typeface="Lato" panose="020F0502020204030203" pitchFamily="34" charset="0"/>
                          <a:cs typeface="Lato" panose="020F0502020204030203" pitchFamily="34" charset="0"/>
                        </a:rPr>
                        <a:t>6</a:t>
                      </a:r>
                    </a:p>
                  </a:txBody>
                  <a:tcPr marL="50800" marR="50800" marT="12700" marB="12700" anchor="ctr">
                    <a:solidFill>
                      <a:srgbClr val="FFFFFF"/>
                    </a:solidFill>
                  </a:tcPr>
                </a:tc>
                <a:tc>
                  <a:txBody>
                    <a:bodyPr/>
                    <a:lstStyle/>
                    <a:p>
                      <a:r>
                        <a:rPr sz="1200">
                          <a:solidFill>
                            <a:srgbClr val="44546A"/>
                          </a:solidFill>
                          <a:latin typeface="Lato" panose="020F0502020204030203" pitchFamily="34" charset="0"/>
                          <a:ea typeface="Lato" panose="020F0502020204030203" pitchFamily="34" charset="0"/>
                          <a:cs typeface="Lato" panose="020F0502020204030203" pitchFamily="34" charset="0"/>
                        </a:rPr>
                        <a:t>Gỏi cá chích, Gỏi cuốn, Nem chua, Nem nướng Nha Trang, Chả cốm, Chả lụi</a:t>
                      </a:r>
                    </a:p>
                  </a:txBody>
                  <a:tcPr marL="50800" marR="50800" marT="12700" marB="12700" anchor="ctr">
                    <a:solidFill>
                      <a:srgbClr val="FFFFFF"/>
                    </a:solidFill>
                  </a:tcPr>
                </a:tc>
                <a:extLst>
                  <a:ext uri="{0D108BD9-81ED-4DB2-BD59-A6C34878D82A}">
                    <a16:rowId xmlns:a16="http://schemas.microsoft.com/office/drawing/2014/main" val="10007"/>
                  </a:ext>
                </a:extLst>
              </a:tr>
              <a:tr h="523240">
                <a:tc>
                  <a:txBody>
                    <a:bodyPr/>
                    <a:lstStyle/>
                    <a:p>
                      <a:r>
                        <a:rPr sz="1200" b="1">
                          <a:solidFill>
                            <a:srgbClr val="4472C4"/>
                          </a:solidFill>
                          <a:latin typeface="Lato" panose="020F0502020204030203" pitchFamily="34" charset="0"/>
                          <a:ea typeface="Lato" panose="020F0502020204030203" pitchFamily="34" charset="0"/>
                          <a:cs typeface="Lato" panose="020F0502020204030203" pitchFamily="34" charset="0"/>
                        </a:rPr>
                        <a:t>Đặc biệt</a:t>
                      </a:r>
                    </a:p>
                  </a:txBody>
                  <a:tcPr marL="50800" marR="50800" marT="12700" marB="12700" anchor="ctr">
                    <a:solidFill>
                      <a:srgbClr val="FFFFFF"/>
                    </a:solidFill>
                  </a:tcPr>
                </a:tc>
                <a:tc>
                  <a:txBody>
                    <a:bodyPr/>
                    <a:lstStyle/>
                    <a:p>
                      <a:pPr algn="ctr"/>
                      <a:r>
                        <a:rPr sz="1200" b="1">
                          <a:solidFill>
                            <a:srgbClr val="44546A"/>
                          </a:solidFill>
                          <a:latin typeface="Lato" panose="020F0502020204030203" pitchFamily="34" charset="0"/>
                          <a:ea typeface="Lato" panose="020F0502020204030203" pitchFamily="34" charset="0"/>
                          <a:cs typeface="Lato" panose="020F0502020204030203" pitchFamily="34" charset="0"/>
                        </a:rPr>
                        <a:t>18</a:t>
                      </a:r>
                    </a:p>
                  </a:txBody>
                  <a:tcPr marL="50800" marR="50800" marT="12700" marB="12700" anchor="ctr">
                    <a:solidFill>
                      <a:srgbClr val="FFFFFF"/>
                    </a:solidFill>
                  </a:tcPr>
                </a:tc>
                <a:tc>
                  <a:txBody>
                    <a:bodyPr/>
                    <a:lstStyle/>
                    <a:p>
                      <a:r>
                        <a:rPr sz="1200">
                          <a:solidFill>
                            <a:srgbClr val="44546A"/>
                          </a:solidFill>
                          <a:latin typeface="Lato" panose="020F0502020204030203" pitchFamily="34" charset="0"/>
                          <a:ea typeface="Lato" panose="020F0502020204030203" pitchFamily="34" charset="0"/>
                          <a:cs typeface="Lato" panose="020F0502020204030203" pitchFamily="34" charset="0"/>
                        </a:rPr>
                        <a:t>Ba ba nấu chuối đậu, Cá muối xổi, Chả cá Lã Vọng, Cua hấp bia, Cút lộn xào me, Gà hấp lá chanh, Khâu nhục, Mắm chưng, Mắm tép chưng thịt, Ốc bươu hấp, Ốc hương xào, Ốc len xào dừa, Tàu hũ nhồi thịt, Tàu hũ non, Thịt đông, Thịt trâu gác bếp, Tiết canh, Trứng vịt lộn</a:t>
                      </a:r>
                    </a:p>
                  </a:txBody>
                  <a:tcPr marL="50800" marR="50800" marT="12700" marB="12700" anchor="ct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1017</TotalTime>
  <Words>2287</Words>
  <Application>Microsoft Office PowerPoint</Application>
  <PresentationFormat>On-screen Show (4:3)</PresentationFormat>
  <Paragraphs>220</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Lato</vt:lpstr>
      <vt:lpstr>Office Theme</vt:lpstr>
      <vt:lpstr>PowerPoint Presentation</vt:lpstr>
      <vt:lpstr>Nội dung trình bày</vt:lpstr>
      <vt:lpstr>1. Mục tiêu đồ án</vt:lpstr>
      <vt:lpstr>2. Phân tích bài toán và giải pháp (1/2)</vt:lpstr>
      <vt:lpstr>2. Phân tích bài toán và giải pháp</vt:lpstr>
      <vt:lpstr>3. Thiết kế hệ thống</vt:lpstr>
      <vt:lpstr>Phân tích chức năng — Use case tổng quát</vt:lpstr>
      <vt:lpstr>Thiết kế cơ sở dữ liệu (ERD)</vt:lpstr>
      <vt:lpstr>Thiết kế hoạt động: Nhận diện món ăn</vt:lpstr>
      <vt:lpstr>Thiết kế hoạt động: Đề xuất &amp; duyệt công thức</vt:lpstr>
      <vt:lpstr>Kiến trúc nhận diện hai tầng</vt:lpstr>
      <vt:lpstr>4. Kết quả</vt:lpstr>
      <vt:lpstr>4. Kết quả</vt:lpstr>
      <vt:lpstr>4. Kết quả</vt:lpstr>
      <vt:lpstr>5. Kết luận</vt:lpstr>
      <vt:lpstr>6. Hướng phát triển</vt:lpstr>
      <vt:lpstr>Link Demo</vt:lpstr>
      <vt:lpstr>PowerPoint Presentation</vt:lpstr>
      <vt:lpstr>Thiết lập thực nghiệm</vt:lpstr>
      <vt:lpstr>Cấu hình &amp; cách huấn luyện </vt:lpstr>
      <vt:lpstr>Kiến trúc mô hình EfficienNet-B0 , EfficientNet-B2</vt:lpstr>
      <vt:lpstr>Vì sao chọn kiến trúc hai tầng?</vt:lpstr>
      <vt:lpstr>Kết quả: Độ chính xác mô hình nhận diện</vt:lpstr>
      <vt:lpstr>Phụ lục — Chi tiết kiến trúc nhận diện 2 tầng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Vu Huu Tien 20225231</cp:lastModifiedBy>
  <cp:revision>30</cp:revision>
  <dcterms:created xsi:type="dcterms:W3CDTF">2021-05-28T04:32:29Z</dcterms:created>
  <dcterms:modified xsi:type="dcterms:W3CDTF">2026-07-14T22:39:35Z</dcterms:modified>
</cp:coreProperties>
</file>